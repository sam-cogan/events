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7" r:id="rId2"/>
    <p:sldId id="270" r:id="rId3"/>
    <p:sldId id="1912" r:id="rId4"/>
    <p:sldId id="1913" r:id="rId5"/>
    <p:sldId id="1914" r:id="rId6"/>
    <p:sldId id="1915" r:id="rId7"/>
    <p:sldId id="1918" r:id="rId8"/>
    <p:sldId id="1916" r:id="rId9"/>
    <p:sldId id="1917" r:id="rId10"/>
    <p:sldId id="1919" r:id="rId11"/>
    <p:sldId id="1920" r:id="rId12"/>
    <p:sldId id="1921" r:id="rId13"/>
    <p:sldId id="1906" r:id="rId14"/>
    <p:sldId id="192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7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68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FAA6C2-67FA-462D-8715-8A3AB3FE9591}" type="datetimeFigureOut">
              <a:rPr lang="en-GB" smtClean="0"/>
              <a:t>29/11/2020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A2021-C5DB-4895-BDEE-247A75FF9D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628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51020"/>
            <a:ext cx="5486400" cy="4114800"/>
          </a:xfrm>
        </p:spPr>
        <p:txBody>
          <a:bodyPr/>
          <a:lstStyle/>
          <a:p>
            <a:r>
              <a:rPr lang="en-GB" dirty="0" err="1"/>
              <a:t>FunctionExamples.json</a:t>
            </a:r>
            <a:r>
              <a:rPr lang="en-GB" dirty="0"/>
              <a:t> – </a:t>
            </a:r>
            <a:r>
              <a:rPr lang="en-GB" dirty="0" err="1"/>
              <a:t>UniqueString</a:t>
            </a:r>
            <a:r>
              <a:rPr lang="en-GB" dirty="0"/>
              <a:t>, </a:t>
            </a:r>
            <a:r>
              <a:rPr lang="en-GB" dirty="0" err="1"/>
              <a:t>ResourceGroup</a:t>
            </a:r>
            <a:r>
              <a:rPr lang="en-GB" dirty="0"/>
              <a:t>, </a:t>
            </a:r>
            <a:r>
              <a:rPr lang="en-GB" dirty="0" err="1"/>
              <a:t>ListKeys</a:t>
            </a:r>
            <a:r>
              <a:rPr lang="en-GB" dirty="0"/>
              <a:t>, </a:t>
            </a:r>
            <a:r>
              <a:rPr lang="en-GB" dirty="0" err="1"/>
              <a:t>toLower</a:t>
            </a:r>
            <a:endParaRPr lang="en-GB" dirty="0"/>
          </a:p>
          <a:p>
            <a:r>
              <a:rPr lang="en-GB" dirty="0" err="1"/>
              <a:t>SaSToken.json</a:t>
            </a:r>
            <a:r>
              <a:rPr lang="en-GB" dirty="0"/>
              <a:t> – generating a SAS token with </a:t>
            </a:r>
            <a:r>
              <a:rPr lang="en-GB" dirty="0" err="1"/>
              <a:t>ListKeys</a:t>
            </a:r>
            <a:endParaRPr lang="en-GB" dirty="0"/>
          </a:p>
          <a:p>
            <a:r>
              <a:rPr lang="en-GB" dirty="0" err="1"/>
              <a:t>Mod.json</a:t>
            </a:r>
            <a:r>
              <a:rPr lang="en-GB" dirty="0"/>
              <a:t> – using mod to alternate between storage accounts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86CE63F-9E7F-4C04-9D0D-FCA25A8E9E86}" type="datetime8">
              <a:rPr lang="en-US" smtClean="0"/>
              <a:t>11/29/2020 11:24 AM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0306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51020"/>
            <a:ext cx="5486400" cy="4114800"/>
          </a:xfrm>
        </p:spPr>
        <p:txBody>
          <a:bodyPr/>
          <a:lstStyle/>
          <a:p>
            <a:r>
              <a:rPr lang="en-GB" dirty="0" err="1"/>
              <a:t>FunctionExamples.json</a:t>
            </a:r>
            <a:r>
              <a:rPr lang="en-GB" dirty="0"/>
              <a:t> – </a:t>
            </a:r>
            <a:r>
              <a:rPr lang="en-GB" dirty="0" err="1"/>
              <a:t>UniqueString</a:t>
            </a:r>
            <a:r>
              <a:rPr lang="en-GB" dirty="0"/>
              <a:t>, </a:t>
            </a:r>
            <a:r>
              <a:rPr lang="en-GB" dirty="0" err="1"/>
              <a:t>ResourceGroup</a:t>
            </a:r>
            <a:r>
              <a:rPr lang="en-GB" dirty="0"/>
              <a:t>, </a:t>
            </a:r>
            <a:r>
              <a:rPr lang="en-GB" dirty="0" err="1"/>
              <a:t>ListKeys</a:t>
            </a:r>
            <a:r>
              <a:rPr lang="en-GB" dirty="0"/>
              <a:t>, </a:t>
            </a:r>
            <a:r>
              <a:rPr lang="en-GB" dirty="0" err="1"/>
              <a:t>toLower</a:t>
            </a:r>
            <a:endParaRPr lang="en-GB" dirty="0"/>
          </a:p>
          <a:p>
            <a:r>
              <a:rPr lang="en-GB" dirty="0" err="1"/>
              <a:t>SaSToken.json</a:t>
            </a:r>
            <a:r>
              <a:rPr lang="en-GB" dirty="0"/>
              <a:t> – generating a SAS token with </a:t>
            </a:r>
            <a:r>
              <a:rPr lang="en-GB" dirty="0" err="1"/>
              <a:t>ListKeys</a:t>
            </a:r>
            <a:endParaRPr lang="en-GB" dirty="0"/>
          </a:p>
          <a:p>
            <a:r>
              <a:rPr lang="en-GB" dirty="0" err="1"/>
              <a:t>Mod.json</a:t>
            </a:r>
            <a:r>
              <a:rPr lang="en-GB" dirty="0"/>
              <a:t> – using mod to alternate between storage accounts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86CE63F-9E7F-4C04-9D0D-FCA25A8E9E86}" type="datetime8">
              <a:rPr lang="en-US" smtClean="0"/>
              <a:t>11/29/2020 11:29 AM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7814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51020"/>
            <a:ext cx="5486400" cy="4114800"/>
          </a:xfrm>
        </p:spPr>
        <p:txBody>
          <a:bodyPr/>
          <a:lstStyle/>
          <a:p>
            <a:r>
              <a:rPr lang="en-GB" dirty="0" err="1"/>
              <a:t>FunctionExamples.json</a:t>
            </a:r>
            <a:r>
              <a:rPr lang="en-GB" dirty="0"/>
              <a:t> – </a:t>
            </a:r>
            <a:r>
              <a:rPr lang="en-GB" dirty="0" err="1"/>
              <a:t>UniqueString</a:t>
            </a:r>
            <a:r>
              <a:rPr lang="en-GB" dirty="0"/>
              <a:t>, </a:t>
            </a:r>
            <a:r>
              <a:rPr lang="en-GB" dirty="0" err="1"/>
              <a:t>ResourceGroup</a:t>
            </a:r>
            <a:r>
              <a:rPr lang="en-GB" dirty="0"/>
              <a:t>, </a:t>
            </a:r>
            <a:r>
              <a:rPr lang="en-GB" dirty="0" err="1"/>
              <a:t>ListKeys</a:t>
            </a:r>
            <a:r>
              <a:rPr lang="en-GB" dirty="0"/>
              <a:t>, </a:t>
            </a:r>
            <a:r>
              <a:rPr lang="en-GB" dirty="0" err="1"/>
              <a:t>toLower</a:t>
            </a:r>
            <a:endParaRPr lang="en-GB" dirty="0"/>
          </a:p>
          <a:p>
            <a:r>
              <a:rPr lang="en-GB" dirty="0" err="1"/>
              <a:t>SaSToken.json</a:t>
            </a:r>
            <a:r>
              <a:rPr lang="en-GB" dirty="0"/>
              <a:t> – generating a SAS token with </a:t>
            </a:r>
            <a:r>
              <a:rPr lang="en-GB" dirty="0" err="1"/>
              <a:t>ListKeys</a:t>
            </a:r>
            <a:endParaRPr lang="en-GB" dirty="0"/>
          </a:p>
          <a:p>
            <a:r>
              <a:rPr lang="en-GB" dirty="0" err="1"/>
              <a:t>Mod.json</a:t>
            </a:r>
            <a:r>
              <a:rPr lang="en-GB" dirty="0"/>
              <a:t> – using mod to alternate between storage accounts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86CE63F-9E7F-4C04-9D0D-FCA25A8E9E86}" type="datetime8">
              <a:rPr lang="en-US" smtClean="0"/>
              <a:t>11/29/2020 11:30 AM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86018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51020"/>
            <a:ext cx="5486400" cy="4114800"/>
          </a:xfrm>
        </p:spPr>
        <p:txBody>
          <a:bodyPr/>
          <a:lstStyle/>
          <a:p>
            <a:r>
              <a:rPr lang="en-GB" dirty="0" err="1"/>
              <a:t>FunctionExamples.json</a:t>
            </a:r>
            <a:r>
              <a:rPr lang="en-GB" dirty="0"/>
              <a:t> – </a:t>
            </a:r>
            <a:r>
              <a:rPr lang="en-GB" dirty="0" err="1"/>
              <a:t>UniqueString</a:t>
            </a:r>
            <a:r>
              <a:rPr lang="en-GB" dirty="0"/>
              <a:t>, </a:t>
            </a:r>
            <a:r>
              <a:rPr lang="en-GB" dirty="0" err="1"/>
              <a:t>ResourceGroup</a:t>
            </a:r>
            <a:r>
              <a:rPr lang="en-GB" dirty="0"/>
              <a:t>, </a:t>
            </a:r>
            <a:r>
              <a:rPr lang="en-GB" dirty="0" err="1"/>
              <a:t>ListKeys</a:t>
            </a:r>
            <a:r>
              <a:rPr lang="en-GB" dirty="0"/>
              <a:t>, </a:t>
            </a:r>
            <a:r>
              <a:rPr lang="en-GB" dirty="0" err="1"/>
              <a:t>toLower</a:t>
            </a:r>
            <a:endParaRPr lang="en-GB" dirty="0"/>
          </a:p>
          <a:p>
            <a:r>
              <a:rPr lang="en-GB" dirty="0" err="1"/>
              <a:t>SaSToken.json</a:t>
            </a:r>
            <a:r>
              <a:rPr lang="en-GB" dirty="0"/>
              <a:t> – generating a SAS token with </a:t>
            </a:r>
            <a:r>
              <a:rPr lang="en-GB" dirty="0" err="1"/>
              <a:t>ListKeys</a:t>
            </a:r>
            <a:endParaRPr lang="en-GB" dirty="0"/>
          </a:p>
          <a:p>
            <a:r>
              <a:rPr lang="en-GB" dirty="0" err="1"/>
              <a:t>Mod.json</a:t>
            </a:r>
            <a:r>
              <a:rPr lang="en-GB" dirty="0"/>
              <a:t> – using mod to alternate between storage accounts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86CE63F-9E7F-4C04-9D0D-FCA25A8E9E86}" type="datetime8">
              <a:rPr lang="en-US" smtClean="0"/>
              <a:t>11/29/2020 11:49 AM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3803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51020"/>
            <a:ext cx="5486400" cy="4114800"/>
          </a:xfrm>
        </p:spPr>
        <p:txBody>
          <a:bodyPr/>
          <a:lstStyle/>
          <a:p>
            <a:r>
              <a:rPr lang="en-GB" dirty="0" err="1"/>
              <a:t>FunctionExamples.json</a:t>
            </a:r>
            <a:r>
              <a:rPr lang="en-GB" dirty="0"/>
              <a:t> – </a:t>
            </a:r>
            <a:r>
              <a:rPr lang="en-GB" dirty="0" err="1"/>
              <a:t>UniqueString</a:t>
            </a:r>
            <a:r>
              <a:rPr lang="en-GB" dirty="0"/>
              <a:t>, </a:t>
            </a:r>
            <a:r>
              <a:rPr lang="en-GB" dirty="0" err="1"/>
              <a:t>ResourceGroup</a:t>
            </a:r>
            <a:r>
              <a:rPr lang="en-GB" dirty="0"/>
              <a:t>, </a:t>
            </a:r>
            <a:r>
              <a:rPr lang="en-GB" dirty="0" err="1"/>
              <a:t>ListKeys</a:t>
            </a:r>
            <a:r>
              <a:rPr lang="en-GB" dirty="0"/>
              <a:t>, </a:t>
            </a:r>
            <a:r>
              <a:rPr lang="en-GB" dirty="0" err="1"/>
              <a:t>toLower</a:t>
            </a:r>
            <a:endParaRPr lang="en-GB" dirty="0"/>
          </a:p>
          <a:p>
            <a:r>
              <a:rPr lang="en-GB" dirty="0" err="1"/>
              <a:t>SaSToken.json</a:t>
            </a:r>
            <a:r>
              <a:rPr lang="en-GB" dirty="0"/>
              <a:t> – generating a SAS token with </a:t>
            </a:r>
            <a:r>
              <a:rPr lang="en-GB" dirty="0" err="1"/>
              <a:t>ListKeys</a:t>
            </a:r>
            <a:endParaRPr lang="en-GB" dirty="0"/>
          </a:p>
          <a:p>
            <a:r>
              <a:rPr lang="en-GB" dirty="0" err="1"/>
              <a:t>Mod.json</a:t>
            </a:r>
            <a:r>
              <a:rPr lang="en-GB" dirty="0"/>
              <a:t> – using mod to alternate between storage accounts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86CE63F-9E7F-4C04-9D0D-FCA25A8E9E86}" type="datetime8">
              <a:rPr lang="en-US" smtClean="0"/>
              <a:t>11/29/2020 12:39 PM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4913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51020"/>
            <a:ext cx="5486400" cy="4114800"/>
          </a:xfrm>
        </p:spPr>
        <p:txBody>
          <a:bodyPr/>
          <a:lstStyle/>
          <a:p>
            <a:r>
              <a:rPr lang="en-GB" dirty="0" err="1"/>
              <a:t>FunctionExamples.json</a:t>
            </a:r>
            <a:r>
              <a:rPr lang="en-GB" dirty="0"/>
              <a:t> – </a:t>
            </a:r>
            <a:r>
              <a:rPr lang="en-GB" dirty="0" err="1"/>
              <a:t>UniqueString</a:t>
            </a:r>
            <a:r>
              <a:rPr lang="en-GB" dirty="0"/>
              <a:t>, </a:t>
            </a:r>
            <a:r>
              <a:rPr lang="en-GB" dirty="0" err="1"/>
              <a:t>ResourceGroup</a:t>
            </a:r>
            <a:r>
              <a:rPr lang="en-GB" dirty="0"/>
              <a:t>, </a:t>
            </a:r>
            <a:r>
              <a:rPr lang="en-GB" dirty="0" err="1"/>
              <a:t>ListKeys</a:t>
            </a:r>
            <a:r>
              <a:rPr lang="en-GB" dirty="0"/>
              <a:t>, </a:t>
            </a:r>
            <a:r>
              <a:rPr lang="en-GB" dirty="0" err="1"/>
              <a:t>toLower</a:t>
            </a:r>
            <a:endParaRPr lang="en-GB" dirty="0"/>
          </a:p>
          <a:p>
            <a:r>
              <a:rPr lang="en-GB" dirty="0" err="1"/>
              <a:t>SaSToken.json</a:t>
            </a:r>
            <a:r>
              <a:rPr lang="en-GB" dirty="0"/>
              <a:t> – generating a SAS token with </a:t>
            </a:r>
            <a:r>
              <a:rPr lang="en-GB" dirty="0" err="1"/>
              <a:t>ListKeys</a:t>
            </a:r>
            <a:endParaRPr lang="en-GB" dirty="0"/>
          </a:p>
          <a:p>
            <a:r>
              <a:rPr lang="en-GB" dirty="0" err="1"/>
              <a:t>Mod.json</a:t>
            </a:r>
            <a:r>
              <a:rPr lang="en-GB" dirty="0"/>
              <a:t> – using mod to alternate between storage accounts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86CE63F-9E7F-4C04-9D0D-FCA25A8E9E86}" type="datetime8">
              <a:rPr lang="en-US" smtClean="0"/>
              <a:t>11/29/2020 12:30 PM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7339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51020"/>
            <a:ext cx="5486400" cy="4114800"/>
          </a:xfrm>
        </p:spPr>
        <p:txBody>
          <a:bodyPr/>
          <a:lstStyle/>
          <a:p>
            <a:r>
              <a:rPr lang="en-GB" dirty="0" err="1"/>
              <a:t>FunctionExamples.json</a:t>
            </a:r>
            <a:r>
              <a:rPr lang="en-GB" dirty="0"/>
              <a:t> – </a:t>
            </a:r>
            <a:r>
              <a:rPr lang="en-GB" dirty="0" err="1"/>
              <a:t>UniqueString</a:t>
            </a:r>
            <a:r>
              <a:rPr lang="en-GB" dirty="0"/>
              <a:t>, </a:t>
            </a:r>
            <a:r>
              <a:rPr lang="en-GB" dirty="0" err="1"/>
              <a:t>ResourceGroup</a:t>
            </a:r>
            <a:r>
              <a:rPr lang="en-GB" dirty="0"/>
              <a:t>, </a:t>
            </a:r>
            <a:r>
              <a:rPr lang="en-GB" dirty="0" err="1"/>
              <a:t>ListKeys</a:t>
            </a:r>
            <a:r>
              <a:rPr lang="en-GB" dirty="0"/>
              <a:t>, </a:t>
            </a:r>
            <a:r>
              <a:rPr lang="en-GB" dirty="0" err="1"/>
              <a:t>toLower</a:t>
            </a:r>
            <a:endParaRPr lang="en-GB" dirty="0"/>
          </a:p>
          <a:p>
            <a:r>
              <a:rPr lang="en-GB" dirty="0" err="1"/>
              <a:t>SaSToken.json</a:t>
            </a:r>
            <a:r>
              <a:rPr lang="en-GB" dirty="0"/>
              <a:t> – generating a SAS token with </a:t>
            </a:r>
            <a:r>
              <a:rPr lang="en-GB" dirty="0" err="1"/>
              <a:t>ListKeys</a:t>
            </a:r>
            <a:endParaRPr lang="en-GB" dirty="0"/>
          </a:p>
          <a:p>
            <a:r>
              <a:rPr lang="en-GB" dirty="0" err="1"/>
              <a:t>Mod.json</a:t>
            </a:r>
            <a:r>
              <a:rPr lang="en-GB" dirty="0"/>
              <a:t> – using mod to alternate between storage accounts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86CE63F-9E7F-4C04-9D0D-FCA25A8E9E86}" type="datetime8">
              <a:rPr lang="en-US" smtClean="0"/>
              <a:t>11/29/2020 12:40 PM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8453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51020"/>
            <a:ext cx="5486400" cy="4114800"/>
          </a:xfrm>
        </p:spPr>
        <p:txBody>
          <a:bodyPr/>
          <a:lstStyle/>
          <a:p>
            <a:r>
              <a:rPr lang="en-GB" dirty="0" err="1"/>
              <a:t>FunctionExamples.json</a:t>
            </a:r>
            <a:r>
              <a:rPr lang="en-GB" dirty="0"/>
              <a:t> – </a:t>
            </a:r>
            <a:r>
              <a:rPr lang="en-GB" dirty="0" err="1"/>
              <a:t>UniqueString</a:t>
            </a:r>
            <a:r>
              <a:rPr lang="en-GB" dirty="0"/>
              <a:t>, </a:t>
            </a:r>
            <a:r>
              <a:rPr lang="en-GB" dirty="0" err="1"/>
              <a:t>ResourceGroup</a:t>
            </a:r>
            <a:r>
              <a:rPr lang="en-GB" dirty="0"/>
              <a:t>, </a:t>
            </a:r>
            <a:r>
              <a:rPr lang="en-GB" dirty="0" err="1"/>
              <a:t>ListKeys</a:t>
            </a:r>
            <a:r>
              <a:rPr lang="en-GB" dirty="0"/>
              <a:t>, </a:t>
            </a:r>
            <a:r>
              <a:rPr lang="en-GB" dirty="0" err="1"/>
              <a:t>toLower</a:t>
            </a:r>
            <a:endParaRPr lang="en-GB" dirty="0"/>
          </a:p>
          <a:p>
            <a:r>
              <a:rPr lang="en-GB" dirty="0" err="1"/>
              <a:t>SaSToken.json</a:t>
            </a:r>
            <a:r>
              <a:rPr lang="en-GB" dirty="0"/>
              <a:t> – generating a SAS token with </a:t>
            </a:r>
            <a:r>
              <a:rPr lang="en-GB" dirty="0" err="1"/>
              <a:t>ListKeys</a:t>
            </a:r>
            <a:endParaRPr lang="en-GB" dirty="0"/>
          </a:p>
          <a:p>
            <a:r>
              <a:rPr lang="en-GB" dirty="0" err="1"/>
              <a:t>Mod.json</a:t>
            </a:r>
            <a:r>
              <a:rPr lang="en-GB" dirty="0"/>
              <a:t> – using mod to alternate between storage accounts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86CE63F-9E7F-4C04-9D0D-FCA25A8E9E86}" type="datetime8">
              <a:rPr lang="en-US" smtClean="0"/>
              <a:t>11/29/2020 12:46 PM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267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51020"/>
            <a:ext cx="5486400" cy="4114800"/>
          </a:xfrm>
        </p:spPr>
        <p:txBody>
          <a:bodyPr/>
          <a:lstStyle/>
          <a:p>
            <a:r>
              <a:rPr lang="en-GB" dirty="0" err="1"/>
              <a:t>FunctionExamples.json</a:t>
            </a:r>
            <a:r>
              <a:rPr lang="en-GB" dirty="0"/>
              <a:t> – </a:t>
            </a:r>
            <a:r>
              <a:rPr lang="en-GB" dirty="0" err="1"/>
              <a:t>UniqueString</a:t>
            </a:r>
            <a:r>
              <a:rPr lang="en-GB" dirty="0"/>
              <a:t>, </a:t>
            </a:r>
            <a:r>
              <a:rPr lang="en-GB" dirty="0" err="1"/>
              <a:t>ResourceGroup</a:t>
            </a:r>
            <a:r>
              <a:rPr lang="en-GB" dirty="0"/>
              <a:t>, </a:t>
            </a:r>
            <a:r>
              <a:rPr lang="en-GB" dirty="0" err="1"/>
              <a:t>ListKeys</a:t>
            </a:r>
            <a:r>
              <a:rPr lang="en-GB" dirty="0"/>
              <a:t>, </a:t>
            </a:r>
            <a:r>
              <a:rPr lang="en-GB" dirty="0" err="1"/>
              <a:t>toLower</a:t>
            </a:r>
            <a:endParaRPr lang="en-GB" dirty="0"/>
          </a:p>
          <a:p>
            <a:r>
              <a:rPr lang="en-GB" dirty="0" err="1"/>
              <a:t>SaSToken.json</a:t>
            </a:r>
            <a:r>
              <a:rPr lang="en-GB" dirty="0"/>
              <a:t> – generating a SAS token with </a:t>
            </a:r>
            <a:r>
              <a:rPr lang="en-GB" dirty="0" err="1"/>
              <a:t>ListKeys</a:t>
            </a:r>
            <a:endParaRPr lang="en-GB" dirty="0"/>
          </a:p>
          <a:p>
            <a:r>
              <a:rPr lang="en-GB" dirty="0" err="1"/>
              <a:t>Mod.json</a:t>
            </a:r>
            <a:r>
              <a:rPr lang="en-GB" dirty="0"/>
              <a:t> – using mod to alternate between storage accounts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86CE63F-9E7F-4C04-9D0D-FCA25A8E9E86}" type="datetime8">
              <a:rPr lang="en-US" smtClean="0"/>
              <a:t>11/29/2020 12:31 PM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93890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51020"/>
            <a:ext cx="5486400" cy="4114800"/>
          </a:xfrm>
        </p:spPr>
        <p:txBody>
          <a:bodyPr/>
          <a:lstStyle/>
          <a:p>
            <a:r>
              <a:rPr lang="en-GB" dirty="0" err="1"/>
              <a:t>FunctionExamples.json</a:t>
            </a:r>
            <a:r>
              <a:rPr lang="en-GB" dirty="0"/>
              <a:t> – </a:t>
            </a:r>
            <a:r>
              <a:rPr lang="en-GB" dirty="0" err="1"/>
              <a:t>UniqueString</a:t>
            </a:r>
            <a:r>
              <a:rPr lang="en-GB" dirty="0"/>
              <a:t>, </a:t>
            </a:r>
            <a:r>
              <a:rPr lang="en-GB" dirty="0" err="1"/>
              <a:t>ResourceGroup</a:t>
            </a:r>
            <a:r>
              <a:rPr lang="en-GB" dirty="0"/>
              <a:t>, </a:t>
            </a:r>
            <a:r>
              <a:rPr lang="en-GB" dirty="0" err="1"/>
              <a:t>ListKeys</a:t>
            </a:r>
            <a:r>
              <a:rPr lang="en-GB" dirty="0"/>
              <a:t>, </a:t>
            </a:r>
            <a:r>
              <a:rPr lang="en-GB" dirty="0" err="1"/>
              <a:t>toLower</a:t>
            </a:r>
            <a:endParaRPr lang="en-GB" dirty="0"/>
          </a:p>
          <a:p>
            <a:r>
              <a:rPr lang="en-GB" dirty="0" err="1"/>
              <a:t>SaSToken.json</a:t>
            </a:r>
            <a:r>
              <a:rPr lang="en-GB" dirty="0"/>
              <a:t> – generating a SAS token with </a:t>
            </a:r>
            <a:r>
              <a:rPr lang="en-GB" dirty="0" err="1"/>
              <a:t>ListKeys</a:t>
            </a:r>
            <a:endParaRPr lang="en-GB" dirty="0"/>
          </a:p>
          <a:p>
            <a:r>
              <a:rPr lang="en-GB" dirty="0" err="1"/>
              <a:t>Mod.json</a:t>
            </a:r>
            <a:r>
              <a:rPr lang="en-GB" dirty="0"/>
              <a:t> – using mod to alternate between storage accounts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latin typeface="Segoe UI" pitchFamily="34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86CE63F-9E7F-4C04-9D0D-FCA25A8E9E86}" type="datetime8">
              <a:rPr lang="en-US" smtClean="0"/>
              <a:t>11/29/2020 12:53 PM</a:t>
            </a:fld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3823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786CF-B25F-42FF-B6E2-8AC7ED3994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89A8D2-3DB6-4031-9B0F-F7A804442D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91FD8F-4402-4250-B255-AC6623AF5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DE781-530C-4B16-8163-2FBF34F544F2}" type="datetimeFigureOut">
              <a:rPr lang="en-GB" smtClean="0"/>
              <a:t>29/11/2020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50068F-6D60-42AA-8C61-AE9D25265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E717E-1E92-4229-95C3-154C70FC6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42E1F7-45EE-4B57-8F57-93A21D7C57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8568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3FB4D-B0C4-490E-A5F6-C2DCC6643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924A7-C5E0-4134-857C-1B4C3627CE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79A22F-9AA4-4461-BB13-9384F1225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DE781-530C-4B16-8163-2FBF34F544F2}" type="datetimeFigureOut">
              <a:rPr lang="en-GB" smtClean="0"/>
              <a:t>29/11/2020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5C5EBD-1B4B-4889-A9F5-F84BC42A7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3AA43-BFC7-4822-8220-94D72BA74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42E1F7-45EE-4B57-8F57-93A21D7C57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6321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0E883-1B8D-42E2-9419-031B07AE9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E84F64-2135-4DA5-B20F-B704E5182D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F15BB-9DA2-4EEC-9B72-DDC3E5BC3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DE781-530C-4B16-8163-2FBF34F544F2}" type="datetimeFigureOut">
              <a:rPr lang="en-GB" smtClean="0"/>
              <a:t>29/11/2020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1FE91-1EF4-4385-9E6D-232736FBF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AA81C1-FB38-4934-BA28-F48CE602B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42E1F7-45EE-4B57-8F57-93A21D7C57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2715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A92EA-6CD0-44A2-8C79-C3A2B7A00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A93B8-3F85-445C-946C-A3A1622B4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A8D7AE-371A-464E-A22B-14C281FAA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9CD877-39F7-40CE-B78E-B229CCC0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DE781-530C-4B16-8163-2FBF34F544F2}" type="datetimeFigureOut">
              <a:rPr lang="en-GB" smtClean="0"/>
              <a:t>29/11/2020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F67038-846C-4766-8DF2-46068ED11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088CCA-D291-4AB6-B9D1-74C22CA15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42E1F7-45EE-4B57-8F57-93A21D7C57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1528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12CC-C421-45AF-9D8F-D88CB4511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C6FCC5-5E4F-479F-BC4F-31CF780C2D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BEA6A0-4749-4F01-867C-F4D4578068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A788E5-A8DB-4276-BDBB-19A1284210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921D68-3A2C-4A88-ACE5-E4782110C3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02A816-2E8F-43E3-8FA0-3DE3B6107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DE781-530C-4B16-8163-2FBF34F544F2}" type="datetimeFigureOut">
              <a:rPr lang="en-GB" smtClean="0"/>
              <a:t>29/11/2020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569C4E-8248-48E6-9C63-D0C04D86E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3605FA-A024-4938-A8D0-68CE902D3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42E1F7-45EE-4B57-8F57-93A21D7C57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6569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E0023-A252-40A1-8462-2DADB9C2B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4DE7C-A2B3-4B5E-9656-5C231B4B5B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DE781-530C-4B16-8163-2FBF34F544F2}" type="datetimeFigureOut">
              <a:rPr lang="en-GB" smtClean="0"/>
              <a:t>29/11/2020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DC8DC6-85A6-4967-8A39-D5C4DE3C1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5738D9-E050-43D5-A42C-C47E0E975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42E1F7-45EE-4B57-8F57-93A21D7C57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8392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0DEB1E-F70A-4456-849A-F892CF407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DE781-530C-4B16-8163-2FBF34F544F2}" type="datetimeFigureOut">
              <a:rPr lang="en-GB" smtClean="0"/>
              <a:t>29/11/2020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696553-B2D7-4533-BFBF-22BD5DBD2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40B26-7D90-4E17-B29B-F343520CE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42E1F7-45EE-4B57-8F57-93A21D7C57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1295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9ACA0-934F-4A92-9658-C085C3D4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0FF60-E80B-4C50-A9F3-160E973A3E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CC4DF3-662E-4F6E-AA1E-5B9082CC5F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E222D2-114E-4078-8D6C-24CF94635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DE781-530C-4B16-8163-2FBF34F544F2}" type="datetimeFigureOut">
              <a:rPr lang="en-GB" smtClean="0"/>
              <a:t>29/11/2020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BCC1EA-F3F4-4144-9B64-62D2E1BE6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A723C2-77C6-41DB-B924-7244EF069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42E1F7-45EE-4B57-8F57-93A21D7C57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33287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F6F30-D754-4075-BCAC-516E8D703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5D348C-AF27-4729-9372-00BCCE286B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6B6D1B-D580-40B5-9EDA-56F8D3D46C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5D00AF-B19F-4BE5-8554-93E88F819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DE781-530C-4B16-8163-2FBF34F544F2}" type="datetimeFigureOut">
              <a:rPr lang="en-GB" smtClean="0"/>
              <a:t>29/11/2020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5C26AD-5D54-4D4C-B9CF-F7329F655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F99F3F-FDBF-48E0-BC60-EB2D3F15E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42E1F7-45EE-4B57-8F57-93A21D7C57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98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87131-4035-4B03-93A7-7BE80BDFE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879202-2355-4F81-A6BE-8C8C1F2117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02E29-5591-463E-8CE3-303BCE65F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DE781-530C-4B16-8163-2FBF34F544F2}" type="datetimeFigureOut">
              <a:rPr lang="en-GB" smtClean="0"/>
              <a:t>29/11/2020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CD5C73-885C-4573-A798-BAA563FF7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EBE9EF-AD99-4065-A9CC-D5D799E39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42E1F7-45EE-4B57-8F57-93A21D7C57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0860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A8416E-0175-41D5-8390-63D65F9B1B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F73BA6-E53E-49B4-99D0-8248854C80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AF54EB-D760-4B74-B54F-BE4C07BA2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DE781-530C-4B16-8163-2FBF34F544F2}" type="datetimeFigureOut">
              <a:rPr lang="en-GB" smtClean="0"/>
              <a:t>29/11/2020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8F8DD-C2B2-4B70-A102-A1E8DBC34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B1C791-9875-428A-96B9-901FE306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42E1F7-45EE-4B57-8F57-93A21D7C57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36281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623392" y="355600"/>
            <a:ext cx="10944192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/>
            </a:lvl1pPr>
          </a:lstStyle>
          <a:p>
            <a:r>
              <a:rPr lang="de-DE" dirty="0"/>
              <a:t>Title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0"/>
          </p:nvPr>
        </p:nvSpPr>
        <p:spPr>
          <a:xfrm>
            <a:off x="623392" y="1615667"/>
            <a:ext cx="10944192" cy="4693653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pPr marL="609585" lvl="0" indent="-609585"/>
            <a:endParaRPr lang="de-DE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14091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84200" y="1435498"/>
            <a:ext cx="11018520" cy="230832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60883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790C50-6B74-42E0-B1EA-37CCEA403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BE99B3-70DC-40C9-A0F7-6399679B7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C0489B-C1B7-4091-B5BE-0677B73B55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DE781-530C-4B16-8163-2FBF34F544F2}" type="datetimeFigureOut">
              <a:rPr lang="en-GB" smtClean="0"/>
              <a:t>29/11/2020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C16183-B12C-4619-9ED7-B26E33B38A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F2149-E553-4616-A9BE-C07799DF22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42E1F7-45EE-4B57-8F57-93A21D7C57C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3256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cogan.to/rtj" TargetMode="External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8.png"/><Relationship Id="rId5" Type="http://schemas.openxmlformats.org/officeDocument/2006/relationships/hyperlink" Target="https://cogan.to/x6t" TargetMode="External"/><Relationship Id="rId4" Type="http://schemas.openxmlformats.org/officeDocument/2006/relationships/hyperlink" Target="https://cogan.to/c5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78E643FE-FFEF-44E9-AF44-E19658A3C2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532" y="750251"/>
            <a:ext cx="4700753" cy="4700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4C65BC-D794-4019-84AF-E226B4014F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GB" b="1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Project Bicep:</a:t>
            </a:r>
            <a:br>
              <a:rPr lang="en-GB" b="1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</a:br>
            <a:r>
              <a:rPr lang="en-GB" b="1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ARM Templates Evolved</a:t>
            </a:r>
            <a:endParaRPr lang="en-GB" sz="3600" dirty="0">
              <a:solidFill>
                <a:schemeClr val="tx1">
                  <a:lumMod val="65000"/>
                  <a:lumOff val="35000"/>
                </a:schemeClr>
              </a:solidFill>
              <a:latin typeface="Metropolis" panose="00000500000000000000" pitchFamily="50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D039BC-2378-481E-AC12-84D135B882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Sam Cogan</a:t>
            </a:r>
          </a:p>
          <a:p>
            <a:pPr algn="l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Solution Architect, Willis Towers Watson &amp; Microsoft MVP</a:t>
            </a:r>
          </a:p>
          <a:p>
            <a:pPr algn="l"/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AC5797-7E80-4D6A-BC90-315D2634C5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1975" y="5980837"/>
            <a:ext cx="3372971" cy="633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368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2234C-963A-4BDB-AC81-D452BD38A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About Me</a:t>
            </a:r>
            <a:endParaRPr lang="en-CH" dirty="0">
              <a:solidFill>
                <a:schemeClr val="tx1">
                  <a:lumMod val="65000"/>
                  <a:lumOff val="35000"/>
                </a:schemeClr>
              </a:solidFill>
              <a:latin typeface="Metropolis" panose="00000500000000000000" pitchFamily="50" charset="0"/>
            </a:endParaRPr>
          </a:p>
        </p:txBody>
      </p:sp>
      <p:pic>
        <p:nvPicPr>
          <p:cNvPr id="4" name="Picture 2" descr="Title762406932">
            <a:extLst>
              <a:ext uri="{FF2B5EF4-FFF2-40B4-BE49-F238E27FC236}">
                <a16:creationId xmlns:a16="http://schemas.microsoft.com/office/drawing/2014/main" id="{7BA46E82-A330-4DEF-98B2-20DEE30058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967" y="1630247"/>
            <a:ext cx="2540000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72E7FA-7992-477F-8C4E-C1FB1F056038}"/>
              </a:ext>
            </a:extLst>
          </p:cNvPr>
          <p:cNvSpPr txBox="1"/>
          <p:nvPr/>
        </p:nvSpPr>
        <p:spPr>
          <a:xfrm>
            <a:off x="4470400" y="1630247"/>
            <a:ext cx="6868868" cy="221618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GB" sz="6400" dirty="0">
                <a:solidFill>
                  <a:schemeClr val="accent1"/>
                </a:solidFill>
                <a:latin typeface="Metropolis" panose="00000500000000000000" pitchFamily="50" charset="0"/>
              </a:rPr>
              <a:t>Sam Cogan</a:t>
            </a:r>
          </a:p>
          <a:p>
            <a:pPr algn="l"/>
            <a:br>
              <a:rPr lang="en-GB" sz="2667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  <a:latin typeface="Metropolis" panose="00000500000000000000" pitchFamily="50" charset="0"/>
              </a:rPr>
            </a:br>
            <a:r>
              <a:rPr lang="en-GB" sz="2667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Solution Architect – Willis Towers Watson</a:t>
            </a:r>
          </a:p>
          <a:p>
            <a:pPr algn="l"/>
            <a:r>
              <a:rPr lang="en-GB" sz="2667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Microsoft Azure MVP</a:t>
            </a:r>
            <a:endParaRPr lang="en-US" sz="2667" dirty="0" err="1">
              <a:solidFill>
                <a:schemeClr val="tx1">
                  <a:lumMod val="65000"/>
                  <a:lumOff val="35000"/>
                </a:schemeClr>
              </a:solidFill>
              <a:latin typeface="Metropolis" panose="00000500000000000000" pitchFamily="50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B22BEF-6E4F-4173-9BCF-3D301F132299}"/>
              </a:ext>
            </a:extLst>
          </p:cNvPr>
          <p:cNvSpPr txBox="1"/>
          <p:nvPr/>
        </p:nvSpPr>
        <p:spPr>
          <a:xfrm>
            <a:off x="4947458" y="4647155"/>
            <a:ext cx="3781849" cy="4104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2667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samcogan.com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1486BDD-2E81-4057-B118-D61C45BE68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70400" y="4647153"/>
            <a:ext cx="410371" cy="41037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E6D920-E851-40EA-AD43-4817ADB66F02}"/>
              </a:ext>
            </a:extLst>
          </p:cNvPr>
          <p:cNvSpPr txBox="1"/>
          <p:nvPr/>
        </p:nvSpPr>
        <p:spPr>
          <a:xfrm>
            <a:off x="4947458" y="5114149"/>
            <a:ext cx="1990930" cy="41043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GB" sz="2667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@</a:t>
            </a:r>
            <a:r>
              <a:rPr lang="en-GB" sz="2667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samcogan</a:t>
            </a:r>
            <a:endParaRPr lang="en-GB" sz="2667" dirty="0">
              <a:solidFill>
                <a:schemeClr val="tx1">
                  <a:lumMod val="65000"/>
                  <a:lumOff val="35000"/>
                </a:schemeClr>
              </a:solidFill>
              <a:latin typeface="Metropolis" panose="00000500000000000000" pitchFamily="50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FD77926-6B43-46A4-8531-41825BB99E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70401" y="5114149"/>
            <a:ext cx="410369" cy="4103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C9917EE-278B-4969-9893-5A9728BCB1BE}"/>
              </a:ext>
            </a:extLst>
          </p:cNvPr>
          <p:cNvSpPr txBox="1"/>
          <p:nvPr/>
        </p:nvSpPr>
        <p:spPr>
          <a:xfrm>
            <a:off x="4947458" y="5581142"/>
            <a:ext cx="1816203" cy="41043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GB" sz="2667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sam-cogan</a:t>
            </a:r>
            <a:endParaRPr lang="en-GB" sz="2667" dirty="0">
              <a:solidFill>
                <a:schemeClr val="tx1">
                  <a:lumMod val="65000"/>
                  <a:lumOff val="35000"/>
                </a:schemeClr>
              </a:solidFill>
              <a:latin typeface="Metropolis" panose="00000500000000000000" pitchFamily="50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00709674-EC71-4F67-85DC-FB88FA4846D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474369" y="5585111"/>
            <a:ext cx="406400" cy="4064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07ED0C9-C5A8-4D71-9EF4-B76CB5CDA0F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440" y="4857560"/>
            <a:ext cx="2289053" cy="923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436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8766F-C534-403E-92A1-86AFA261D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577" y="347195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ARM Templates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A9F051-D537-412A-9AD7-6EDD86D5B8C6}"/>
              </a:ext>
            </a:extLst>
          </p:cNvPr>
          <p:cNvSpPr/>
          <p:nvPr/>
        </p:nvSpPr>
        <p:spPr>
          <a:xfrm>
            <a:off x="127819" y="1405901"/>
            <a:ext cx="10125260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{</a:t>
            </a:r>
            <a:endParaRPr lang="en-GB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1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":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"storageaccount1"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,</a:t>
            </a:r>
            <a:endParaRPr lang="en-GB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1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":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1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Microsoft.Storage</a:t>
            </a:r>
            <a:r>
              <a:rPr lang="en-GB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GB" sz="2400" b="1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storageAccounts</a:t>
            </a:r>
            <a:r>
              <a:rPr lang="en-GB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,</a:t>
            </a:r>
            <a:endParaRPr lang="en-GB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1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apiVersion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":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"2019-06-01"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,</a:t>
            </a:r>
            <a:endParaRPr lang="en-GB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1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tags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":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{</a:t>
            </a:r>
            <a:endParaRPr lang="en-GB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    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1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displayName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":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"storageaccount1"</a:t>
            </a:r>
            <a:endParaRPr lang="en-GB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},</a:t>
            </a:r>
            <a:endParaRPr lang="en-GB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1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":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4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"[</a:t>
            </a:r>
            <a:r>
              <a:rPr lang="en-GB" sz="2400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resourceGroup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GB" sz="24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]"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,</a:t>
            </a:r>
            <a:endParaRPr lang="en-GB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1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kind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":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"StorageV2"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,</a:t>
            </a:r>
            <a:endParaRPr lang="en-GB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1" dirty="0" err="1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sku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":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{</a:t>
            </a:r>
            <a:endParaRPr lang="en-GB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    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1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":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1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Premium_LRS</a:t>
            </a:r>
            <a:r>
              <a:rPr lang="en-GB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,</a:t>
            </a:r>
            <a:endParaRPr lang="en-GB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    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1" dirty="0">
                <a:solidFill>
                  <a:srgbClr val="0451A5"/>
                </a:solidFill>
                <a:effectLst/>
                <a:latin typeface="Consolas" panose="020B0609020204030204" pitchFamily="49" charset="0"/>
              </a:rPr>
              <a:t>tier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":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"Premium"</a:t>
            </a:r>
            <a:endParaRPr lang="en-GB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    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}</a:t>
            </a:r>
            <a:endParaRPr lang="en-GB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GB" sz="24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}</a:t>
            </a:r>
            <a:endParaRPr lang="en-GB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1370864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8766F-C534-403E-92A1-86AFA261D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577" y="347195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Bicep</a:t>
            </a:r>
          </a:p>
        </p:txBody>
      </p:sp>
      <p:pic>
        <p:nvPicPr>
          <p:cNvPr id="2050" name="Picture 2" descr="Image">
            <a:extLst>
              <a:ext uri="{FF2B5EF4-FFF2-40B4-BE49-F238E27FC236}">
                <a16:creationId xmlns:a16="http://schemas.microsoft.com/office/drawing/2014/main" id="{C1455027-99DE-4D59-B472-8062001E33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3856" y="1480738"/>
            <a:ext cx="6930969" cy="4756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78742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8766F-C534-403E-92A1-86AFA261D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577" y="347195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Bicep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CF20A8-07D9-42C2-940B-F7F9F8902956}"/>
              </a:ext>
            </a:extLst>
          </p:cNvPr>
          <p:cNvSpPr/>
          <p:nvPr/>
        </p:nvSpPr>
        <p:spPr>
          <a:xfrm>
            <a:off x="82177" y="1979525"/>
            <a:ext cx="13686917" cy="32778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300" b="1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resource</a:t>
            </a:r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3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storageaccount1</a:t>
            </a:r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3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GB" sz="2300" b="1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Microsoft.Storage</a:t>
            </a:r>
            <a:r>
              <a:rPr lang="en-GB" sz="23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/storageAccounts@2019-06-01'</a:t>
            </a:r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={</a:t>
            </a:r>
          </a:p>
          <a:p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3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 </a:t>
            </a:r>
            <a:r>
              <a:rPr lang="en-GB" sz="23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'storageaccount1'</a:t>
            </a:r>
            <a:endParaRPr lang="en-GB" sz="23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3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kind</a:t>
            </a:r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 </a:t>
            </a:r>
            <a:r>
              <a:rPr lang="en-GB" sz="23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'StorageV2'</a:t>
            </a:r>
            <a:endParaRPr lang="en-GB" sz="23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3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 </a:t>
            </a:r>
            <a:r>
              <a:rPr lang="en-GB" sz="2300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resourceGroup</a:t>
            </a:r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GB" sz="2300" b="1" dirty="0">
                <a:solidFill>
                  <a:srgbClr val="222222"/>
                </a:solidFill>
                <a:effectLst/>
                <a:latin typeface="Consolas" panose="020B0609020204030204" pitchFamily="49" charset="0"/>
              </a:rPr>
              <a:t>location</a:t>
            </a:r>
            <a:endParaRPr lang="en-GB" sz="23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300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sku</a:t>
            </a:r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 {</a:t>
            </a:r>
          </a:p>
          <a:p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3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 </a:t>
            </a:r>
            <a:r>
              <a:rPr lang="en-GB" sz="23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GB" sz="2300" b="1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Standard_LRS</a:t>
            </a:r>
            <a:r>
              <a:rPr lang="en-GB" sz="23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endParaRPr lang="en-GB" sz="23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3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tier</a:t>
            </a:r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 </a:t>
            </a:r>
            <a:r>
              <a:rPr lang="en-GB" sz="23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'Standard'</a:t>
            </a:r>
            <a:endParaRPr lang="en-GB" sz="23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}</a:t>
            </a:r>
          </a:p>
          <a:p>
            <a:r>
              <a:rPr lang="en-GB" sz="23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27084881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DCF20A8-07D9-42C2-940B-F7F9F8902956}"/>
              </a:ext>
            </a:extLst>
          </p:cNvPr>
          <p:cNvSpPr/>
          <p:nvPr/>
        </p:nvSpPr>
        <p:spPr>
          <a:xfrm>
            <a:off x="335073" y="333604"/>
            <a:ext cx="1152185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</a:pPr>
            <a:r>
              <a:rPr lang="en-GB" sz="4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  <a:ea typeface="+mj-ea"/>
                <a:cs typeface="+mj-cs"/>
              </a:rPr>
              <a:t>Bicep is currently in preview</a:t>
            </a:r>
          </a:p>
          <a:p>
            <a:pPr algn="ctr">
              <a:lnSpc>
                <a:spcPct val="90000"/>
              </a:lnSpc>
              <a:spcBef>
                <a:spcPct val="0"/>
              </a:spcBef>
            </a:pPr>
            <a:r>
              <a:rPr lang="en-GB" sz="4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  <a:ea typeface="+mj-ea"/>
                <a:cs typeface="+mj-cs"/>
              </a:rPr>
              <a:t>It is not ready for production!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79D6EB-620E-4DC6-94D5-7F567E9D3B67}"/>
              </a:ext>
            </a:extLst>
          </p:cNvPr>
          <p:cNvSpPr txBox="1"/>
          <p:nvPr/>
        </p:nvSpPr>
        <p:spPr>
          <a:xfrm>
            <a:off x="959818" y="3246250"/>
            <a:ext cx="10272364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Metropolis" panose="00000500000000000000" pitchFamily="50" charset="0"/>
              </a:rPr>
              <a:t>There are features in ARM templates that are not yet ready in Bicep: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Copy Loops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Condition Property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Single line Objects and Arrays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Support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FFD8764-8F84-4EC5-B219-97DEC86E81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75295" y="1669387"/>
            <a:ext cx="1441409" cy="144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28767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8766F-C534-403E-92A1-86AFA261D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577" y="347195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Benefits of Bicep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99BD84-2397-4BD1-9376-E435C083975E}"/>
              </a:ext>
            </a:extLst>
          </p:cNvPr>
          <p:cNvSpPr txBox="1"/>
          <p:nvPr/>
        </p:nvSpPr>
        <p:spPr>
          <a:xfrm>
            <a:off x="336263" y="1463054"/>
            <a:ext cx="8913017" cy="44615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Simpler Syntax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Simple string interpolation – goodbye </a:t>
            </a:r>
            <a:r>
              <a:rPr lang="en-GB" sz="2400" dirty="0" err="1">
                <a:latin typeface="Metropolis" panose="00000500000000000000" pitchFamily="50" charset="0"/>
              </a:rPr>
              <a:t>concat</a:t>
            </a:r>
            <a:r>
              <a:rPr lang="en-GB" sz="2400" dirty="0">
                <a:latin typeface="Metropolis" panose="00000500000000000000" pitchFamily="50" charset="0"/>
              </a:rPr>
              <a:t>!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Simple resource declaration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Direct property access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Modularisation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Declare parameters, variables, types anywhere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Automatic dependency management (in some scenarios)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Improved validation and </a:t>
            </a:r>
            <a:r>
              <a:rPr lang="en-GB" sz="2400" dirty="0" err="1">
                <a:latin typeface="Metropolis" panose="00000500000000000000" pitchFamily="50" charset="0"/>
              </a:rPr>
              <a:t>Intellisense</a:t>
            </a:r>
            <a:endParaRPr lang="en-GB" sz="2400" dirty="0">
              <a:latin typeface="Metropolis" panose="00000500000000000000" pitchFamily="50" charset="0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63A2C727-ED42-4BD4-8D62-47F3907F56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0358" y="4627347"/>
            <a:ext cx="1883458" cy="1883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4423531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78E643FE-FFEF-44E9-AF44-E19658A3C2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532" y="750251"/>
            <a:ext cx="4700753" cy="4700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4C65BC-D794-4019-84AF-E226B4014F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pPr algn="l"/>
            <a:r>
              <a:rPr lang="en-GB" b="1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Demo</a:t>
            </a:r>
            <a:endParaRPr lang="en-GB" sz="3600" dirty="0">
              <a:solidFill>
                <a:schemeClr val="tx1">
                  <a:lumMod val="65000"/>
                  <a:lumOff val="35000"/>
                </a:schemeClr>
              </a:solidFill>
              <a:latin typeface="Metropolis" panose="00000500000000000000" pitchFamily="50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AC5797-7E80-4D6A-BC90-315D2634C5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1975" y="5980837"/>
            <a:ext cx="3372971" cy="633775"/>
          </a:xfrm>
          <a:prstGeom prst="rect">
            <a:avLst/>
          </a:prstGeom>
        </p:spPr>
      </p:pic>
      <p:sp>
        <p:nvSpPr>
          <p:cNvPr id="7" name="Subtitle 6">
            <a:extLst>
              <a:ext uri="{FF2B5EF4-FFF2-40B4-BE49-F238E27FC236}">
                <a16:creationId xmlns:a16="http://schemas.microsoft.com/office/drawing/2014/main" id="{C7288170-FAD2-488D-92E4-7693340CD4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GB" dirty="0"/>
              <a:t>Using Bicep</a:t>
            </a:r>
          </a:p>
        </p:txBody>
      </p:sp>
    </p:spTree>
    <p:extLst>
      <p:ext uri="{BB962C8B-B14F-4D97-AF65-F5344CB8AC3E}">
        <p14:creationId xmlns:p14="http://schemas.microsoft.com/office/powerpoint/2010/main" val="1693526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8766F-C534-403E-92A1-86AFA261D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577" y="347195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Custom Modules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5C6E05-AB64-4DD6-8F1A-0BFD566FB478}"/>
              </a:ext>
            </a:extLst>
          </p:cNvPr>
          <p:cNvSpPr/>
          <p:nvPr/>
        </p:nvSpPr>
        <p:spPr>
          <a:xfrm>
            <a:off x="2475760" y="2274838"/>
            <a:ext cx="7411557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400" b="1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4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stgacct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'./</a:t>
            </a:r>
            <a:r>
              <a:rPr lang="en-GB" sz="2400" b="1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storage_module.bicep</a:t>
            </a:r>
            <a:r>
              <a:rPr lang="en-GB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={</a:t>
            </a: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4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 </a:t>
            </a:r>
            <a:r>
              <a:rPr lang="en-GB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GB" sz="2400" b="1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storageaccount</a:t>
            </a:r>
            <a:r>
              <a:rPr lang="en-GB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endParaRPr lang="en-GB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400" b="1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params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 {</a:t>
            </a: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400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storageAccountName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 </a:t>
            </a:r>
            <a:r>
              <a:rPr lang="en-GB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${</a:t>
            </a:r>
            <a:r>
              <a:rPr lang="en-GB" sz="2400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GB" sz="2400" b="1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stg'</a:t>
            </a:r>
            <a:endParaRPr lang="en-GB" sz="2400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}</a:t>
            </a:r>
          </a:p>
          <a:p>
            <a:r>
              <a:rPr lang="en-GB" sz="24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30254030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78E643FE-FFEF-44E9-AF44-E19658A3C2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532" y="750251"/>
            <a:ext cx="4700753" cy="4700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4C65BC-D794-4019-84AF-E226B4014F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pPr algn="l"/>
            <a:r>
              <a:rPr lang="en-GB" b="1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Demo</a:t>
            </a:r>
            <a:endParaRPr lang="en-GB" sz="3600" dirty="0">
              <a:solidFill>
                <a:schemeClr val="tx1">
                  <a:lumMod val="65000"/>
                  <a:lumOff val="35000"/>
                </a:schemeClr>
              </a:solidFill>
              <a:latin typeface="Metropolis" panose="00000500000000000000" pitchFamily="50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AC5797-7E80-4D6A-BC90-315D2634C5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1975" y="5980837"/>
            <a:ext cx="3372971" cy="633775"/>
          </a:xfrm>
          <a:prstGeom prst="rect">
            <a:avLst/>
          </a:prstGeom>
        </p:spPr>
      </p:pic>
      <p:sp>
        <p:nvSpPr>
          <p:cNvPr id="7" name="Subtitle 6">
            <a:extLst>
              <a:ext uri="{FF2B5EF4-FFF2-40B4-BE49-F238E27FC236}">
                <a16:creationId xmlns:a16="http://schemas.microsoft.com/office/drawing/2014/main" id="{C7288170-FAD2-488D-92E4-7693340CD4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GB" dirty="0"/>
              <a:t>Modules</a:t>
            </a:r>
          </a:p>
        </p:txBody>
      </p:sp>
    </p:spTree>
    <p:extLst>
      <p:ext uri="{BB962C8B-B14F-4D97-AF65-F5344CB8AC3E}">
        <p14:creationId xmlns:p14="http://schemas.microsoft.com/office/powerpoint/2010/main" val="32869323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8766F-C534-403E-92A1-86AFA261D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577" y="347195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Migrating to Bicep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FE902D-92E4-405D-AFD1-8A5397820758}"/>
              </a:ext>
            </a:extLst>
          </p:cNvPr>
          <p:cNvSpPr txBox="1"/>
          <p:nvPr/>
        </p:nvSpPr>
        <p:spPr>
          <a:xfrm>
            <a:off x="542741" y="1746208"/>
            <a:ext cx="102074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Metropolis" panose="00000500000000000000" pitchFamily="50" charset="0"/>
              </a:rPr>
              <a:t>Manual conversion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Metropolis" panose="00000500000000000000" pitchFamily="50" charset="0"/>
              </a:rPr>
              <a:t>Decompile an ARM Template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Metropolis" panose="00000500000000000000" pitchFamily="50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F0C48EA-E703-420D-81A8-7C2133A80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91687" y="4253435"/>
            <a:ext cx="2542129" cy="2542129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D8379820-95A1-4E91-BE70-3BD943BB07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6702" y="2484872"/>
            <a:ext cx="693174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4292E"/>
                </a:solidFill>
                <a:effectLst/>
                <a:latin typeface="Consolas" panose="020B0609020204030204" pitchFamily="49" charset="0"/>
              </a:rPr>
              <a:t>bicep decompile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"path/to/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file.json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32F62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8696C-8697-49F3-B8A0-2EEA68478E66}"/>
              </a:ext>
            </a:extLst>
          </p:cNvPr>
          <p:cNvSpPr txBox="1"/>
          <p:nvPr/>
        </p:nvSpPr>
        <p:spPr>
          <a:xfrm>
            <a:off x="542741" y="3038870"/>
            <a:ext cx="37176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Metropolis" panose="00000500000000000000" pitchFamily="50" charset="0"/>
              </a:rPr>
              <a:t>Decompile a Resource Group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4988D7B2-4A87-43C4-847D-88FFD8434E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6635" y="3408202"/>
            <a:ext cx="10719601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 err="1">
                <a:solidFill>
                  <a:srgbClr val="24292E"/>
                </a:solidFill>
                <a:latin typeface="Consolas" panose="020B0609020204030204" pitchFamily="49" charset="0"/>
              </a:rPr>
              <a:t>az</a:t>
            </a:r>
            <a:r>
              <a:rPr lang="en-US" altLang="en-US" sz="2400" dirty="0">
                <a:solidFill>
                  <a:srgbClr val="24292E"/>
                </a:solidFill>
                <a:latin typeface="Consolas" panose="020B0609020204030204" pitchFamily="49" charset="0"/>
              </a:rPr>
              <a:t> group export --name "</a:t>
            </a:r>
            <a:r>
              <a:rPr lang="en-US" altLang="en-US" sz="2400" dirty="0" err="1">
                <a:solidFill>
                  <a:srgbClr val="24292E"/>
                </a:solidFill>
                <a:latin typeface="Consolas" panose="020B0609020204030204" pitchFamily="49" charset="0"/>
              </a:rPr>
              <a:t>your_resource_group_name</a:t>
            </a:r>
            <a:r>
              <a:rPr lang="en-US" altLang="en-US" sz="2400" dirty="0">
                <a:solidFill>
                  <a:srgbClr val="24292E"/>
                </a:solidFill>
                <a:latin typeface="Consolas" panose="020B0609020204030204" pitchFamily="49" charset="0"/>
              </a:rPr>
              <a:t>" &gt; </a:t>
            </a:r>
            <a:r>
              <a:rPr lang="en-US" altLang="en-US" sz="2400" dirty="0" err="1">
                <a:solidFill>
                  <a:srgbClr val="24292E"/>
                </a:solidFill>
                <a:latin typeface="Consolas" panose="020B0609020204030204" pitchFamily="49" charset="0"/>
              </a:rPr>
              <a:t>main.json</a:t>
            </a:r>
            <a:r>
              <a:rPr lang="en-US" altLang="en-US" sz="24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solidFill>
                  <a:srgbClr val="24292E"/>
                </a:solidFill>
                <a:latin typeface="Consolas" panose="020B0609020204030204" pitchFamily="49" charset="0"/>
              </a:rPr>
              <a:t>bicep decompile </a:t>
            </a:r>
            <a:r>
              <a:rPr lang="en-US" altLang="en-US" sz="2400" dirty="0" err="1">
                <a:solidFill>
                  <a:srgbClr val="24292E"/>
                </a:solidFill>
                <a:latin typeface="Consolas" panose="020B0609020204030204" pitchFamily="49" charset="0"/>
              </a:rPr>
              <a:t>main.json</a:t>
            </a:r>
            <a:r>
              <a:rPr lang="en-US" altLang="en-US" sz="2400" dirty="0">
                <a:solidFill>
                  <a:srgbClr val="24292E"/>
                </a:solidFill>
                <a:latin typeface="Consolas" panose="020B06090202040302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62973907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8766F-C534-403E-92A1-86AFA261D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577" y="347195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Why Use Bicep?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FE902D-92E4-405D-AFD1-8A5397820758}"/>
              </a:ext>
            </a:extLst>
          </p:cNvPr>
          <p:cNvSpPr txBox="1"/>
          <p:nvPr/>
        </p:nvSpPr>
        <p:spPr>
          <a:xfrm>
            <a:off x="542741" y="1746208"/>
            <a:ext cx="10207436" cy="5154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New users coming to </a:t>
            </a:r>
            <a:r>
              <a:rPr lang="en-GB" sz="2400" dirty="0" err="1">
                <a:latin typeface="Metropolis" panose="00000500000000000000" pitchFamily="50" charset="0"/>
              </a:rPr>
              <a:t>IaC</a:t>
            </a:r>
            <a:r>
              <a:rPr lang="en-GB" sz="2400" dirty="0">
                <a:latin typeface="Metropolis" panose="00000500000000000000" pitchFamily="50" charset="0"/>
              </a:rPr>
              <a:t> in Azure for the first time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Existing ARM users wanting a simpler language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Existing ARM users wanting new language features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Access to the latest Azure resources fastest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Support from Microsoft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GB" sz="2400" dirty="0">
              <a:latin typeface="Metropolis" panose="00000500000000000000" pitchFamily="50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GB" sz="2400" dirty="0">
              <a:latin typeface="Metropolis" panose="00000500000000000000" pitchFamily="50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4EBCC44-BBF8-429E-901F-539197CE24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95958" y="4855170"/>
            <a:ext cx="1728018" cy="1728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39363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8766F-C534-403E-92A1-86AFA261D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577" y="-1487"/>
            <a:ext cx="10515600" cy="1325563"/>
          </a:xfrm>
        </p:spPr>
        <p:txBody>
          <a:bodyPr/>
          <a:lstStyle/>
          <a:p>
            <a:r>
              <a:rPr lang="en-GB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IaC</a:t>
            </a:r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 Tooling Comparison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156387-9CEE-42CB-8F12-CEF65B9694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38720"/>
              </p:ext>
            </p:extLst>
          </p:nvPr>
        </p:nvGraphicFramePr>
        <p:xfrm>
          <a:off x="631230" y="1374550"/>
          <a:ext cx="10229483" cy="4081507"/>
        </p:xfrm>
        <a:graphic>
          <a:graphicData uri="http://schemas.openxmlformats.org/drawingml/2006/table">
            <a:tbl>
              <a:tblPr>
                <a:tableStyleId>{BC89EF96-8CEA-46FF-86C4-4CE0E7609802}</a:tableStyleId>
              </a:tblPr>
              <a:tblGrid>
                <a:gridCol w="2370614">
                  <a:extLst>
                    <a:ext uri="{9D8B030D-6E8A-4147-A177-3AD203B41FA5}">
                      <a16:colId xmlns:a16="http://schemas.microsoft.com/office/drawing/2014/main" val="2078874854"/>
                    </a:ext>
                  </a:extLst>
                </a:gridCol>
                <a:gridCol w="2012543">
                  <a:extLst>
                    <a:ext uri="{9D8B030D-6E8A-4147-A177-3AD203B41FA5}">
                      <a16:colId xmlns:a16="http://schemas.microsoft.com/office/drawing/2014/main" val="3999795245"/>
                    </a:ext>
                  </a:extLst>
                </a:gridCol>
                <a:gridCol w="1928370">
                  <a:extLst>
                    <a:ext uri="{9D8B030D-6E8A-4147-A177-3AD203B41FA5}">
                      <a16:colId xmlns:a16="http://schemas.microsoft.com/office/drawing/2014/main" val="727194672"/>
                    </a:ext>
                  </a:extLst>
                </a:gridCol>
                <a:gridCol w="2007847">
                  <a:extLst>
                    <a:ext uri="{9D8B030D-6E8A-4147-A177-3AD203B41FA5}">
                      <a16:colId xmlns:a16="http://schemas.microsoft.com/office/drawing/2014/main" val="771222460"/>
                    </a:ext>
                  </a:extLst>
                </a:gridCol>
                <a:gridCol w="1910109">
                  <a:extLst>
                    <a:ext uri="{9D8B030D-6E8A-4147-A177-3AD203B41FA5}">
                      <a16:colId xmlns:a16="http://schemas.microsoft.com/office/drawing/2014/main" val="3441285402"/>
                    </a:ext>
                  </a:extLst>
                </a:gridCol>
              </a:tblGrid>
              <a:tr h="834861">
                <a:tc>
                  <a:txBody>
                    <a:bodyPr/>
                    <a:lstStyle/>
                    <a:p>
                      <a:pPr algn="l" fontAlgn="b"/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2000" u="none" strike="noStrike" dirty="0">
                          <a:effectLst/>
                          <a:latin typeface="Metropolis" panose="00000500000000000000"/>
                        </a:rPr>
                        <a:t>ARM Templates</a:t>
                      </a:r>
                      <a:endParaRPr lang="en-GB" sz="20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2000" u="none" strike="noStrike" dirty="0">
                          <a:effectLst/>
                          <a:latin typeface="Metropolis" panose="00000500000000000000"/>
                        </a:rPr>
                        <a:t>Bicep</a:t>
                      </a:r>
                      <a:endParaRPr lang="en-GB" sz="20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2000" u="none" strike="noStrike" dirty="0">
                          <a:effectLst/>
                          <a:latin typeface="Metropolis" panose="00000500000000000000"/>
                        </a:rPr>
                        <a:t>Terraform</a:t>
                      </a:r>
                      <a:endParaRPr lang="en-GB" sz="20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2000" u="none" strike="noStrike" dirty="0" err="1">
                          <a:effectLst/>
                          <a:latin typeface="Metropolis" panose="00000500000000000000"/>
                        </a:rPr>
                        <a:t>Pulumi</a:t>
                      </a:r>
                      <a:endParaRPr lang="en-GB" sz="20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9862795"/>
                  </a:ext>
                </a:extLst>
              </a:tr>
              <a:tr h="563286">
                <a:tc>
                  <a:txBody>
                    <a:bodyPr/>
                    <a:lstStyle/>
                    <a:p>
                      <a:pPr algn="l" fontAlgn="b"/>
                      <a:r>
                        <a:rPr lang="en-GB" sz="1800" u="none" strike="noStrike" dirty="0">
                          <a:effectLst/>
                          <a:latin typeface="Metropolis" panose="00000500000000000000"/>
                        </a:rPr>
                        <a:t>Languages</a:t>
                      </a:r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 anchor="b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 dirty="0">
                          <a:effectLst/>
                          <a:latin typeface="Metropolis" panose="00000500000000000000"/>
                        </a:rPr>
                        <a:t>JSON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 dirty="0">
                          <a:effectLst/>
                          <a:latin typeface="Metropolis" panose="00000500000000000000"/>
                        </a:rPr>
                        <a:t>Custom DSL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 dirty="0">
                          <a:effectLst/>
                          <a:latin typeface="Metropolis" panose="00000500000000000000"/>
                        </a:rPr>
                        <a:t>Custom DSL (HCL)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 dirty="0">
                          <a:effectLst/>
                          <a:latin typeface="Metropolis" panose="00000500000000000000"/>
                        </a:rPr>
                        <a:t>Node JS (TS, JS), Python, .NET Core, GO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438460747"/>
                  </a:ext>
                </a:extLst>
              </a:tr>
              <a:tr h="310358">
                <a:tc>
                  <a:txBody>
                    <a:bodyPr/>
                    <a:lstStyle/>
                    <a:p>
                      <a:pPr algn="l" fontAlgn="b"/>
                      <a:r>
                        <a:rPr lang="en-GB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Complexity</a:t>
                      </a:r>
                    </a:p>
                  </a:txBody>
                  <a:tcPr marL="9525" marR="9525" marT="9525" marB="0" anchor="b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High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Medium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High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High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2099762293"/>
                  </a:ext>
                </a:extLst>
              </a:tr>
              <a:tr h="310358">
                <a:tc>
                  <a:txBody>
                    <a:bodyPr/>
                    <a:lstStyle/>
                    <a:p>
                      <a:pPr algn="l" fontAlgn="b"/>
                      <a:r>
                        <a:rPr lang="en-GB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Speed Of Update</a:t>
                      </a:r>
                    </a:p>
                  </a:txBody>
                  <a:tcPr marL="9525" marR="9525" marT="9525" marB="0" anchor="b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Fast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Fast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Slower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Slower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169245444"/>
                  </a:ext>
                </a:extLst>
              </a:tr>
              <a:tr h="310358">
                <a:tc>
                  <a:txBody>
                    <a:bodyPr/>
                    <a:lstStyle/>
                    <a:p>
                      <a:pPr algn="l" fontAlgn="b"/>
                      <a:r>
                        <a:rPr lang="en-GB" sz="1800" u="none" strike="noStrike" dirty="0">
                          <a:effectLst/>
                          <a:latin typeface="Metropolis" panose="00000500000000000000"/>
                        </a:rPr>
                        <a:t>Multi Cloud</a:t>
                      </a:r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 anchor="b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No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No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Yes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Yes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2134572627"/>
                  </a:ext>
                </a:extLst>
              </a:tr>
              <a:tr h="310358">
                <a:tc>
                  <a:txBody>
                    <a:bodyPr/>
                    <a:lstStyle/>
                    <a:p>
                      <a:pPr algn="l" fontAlgn="b"/>
                      <a:r>
                        <a:rPr lang="en-GB" sz="1800" u="none" strike="noStrike" dirty="0">
                          <a:effectLst/>
                          <a:latin typeface="Metropolis" panose="00000500000000000000"/>
                        </a:rPr>
                        <a:t>Stateful</a:t>
                      </a:r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 anchor="b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No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No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Yes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Yes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1173500142"/>
                  </a:ext>
                </a:extLst>
              </a:tr>
              <a:tr h="310358">
                <a:tc>
                  <a:txBody>
                    <a:bodyPr/>
                    <a:lstStyle/>
                    <a:p>
                      <a:pPr algn="l" fontAlgn="b"/>
                      <a:r>
                        <a:rPr lang="en-GB" sz="1800" u="none" strike="noStrike" dirty="0">
                          <a:effectLst/>
                          <a:latin typeface="Metropolis" panose="00000500000000000000"/>
                        </a:rPr>
                        <a:t>Open Source</a:t>
                      </a:r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 anchor="b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No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Yes*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Yes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Yes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3674464639"/>
                  </a:ext>
                </a:extLst>
              </a:tr>
              <a:tr h="254696">
                <a:tc>
                  <a:txBody>
                    <a:bodyPr/>
                    <a:lstStyle/>
                    <a:p>
                      <a:pPr algn="l" fontAlgn="b"/>
                      <a:r>
                        <a:rPr lang="en-GB" sz="1800" u="none" strike="noStrike" dirty="0">
                          <a:effectLst/>
                          <a:latin typeface="Metropolis" panose="00000500000000000000"/>
                        </a:rPr>
                        <a:t>Support</a:t>
                      </a:r>
                      <a:endParaRPr lang="en-GB" sz="18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 anchor="b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 dirty="0">
                          <a:effectLst/>
                          <a:latin typeface="Metropolis" panose="00000500000000000000"/>
                        </a:rPr>
                        <a:t>Microsoft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Community (until 0.3)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>
                          <a:effectLst/>
                          <a:latin typeface="Metropolis" panose="00000500000000000000"/>
                        </a:rPr>
                        <a:t>Community/Paid</a:t>
                      </a:r>
                      <a:endParaRPr lang="en-GB" sz="1100" b="0" i="0" u="none" strike="noStrike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u="none" strike="noStrike" dirty="0">
                          <a:effectLst/>
                          <a:latin typeface="Metropolis" panose="00000500000000000000"/>
                        </a:rPr>
                        <a:t>Community/Paid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2634202833"/>
                  </a:ext>
                </a:extLst>
              </a:tr>
              <a:tr h="254696">
                <a:tc>
                  <a:txBody>
                    <a:bodyPr/>
                    <a:lstStyle/>
                    <a:p>
                      <a:pPr algn="l" fontAlgn="b"/>
                      <a:r>
                        <a:rPr lang="en-GB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Additional Features</a:t>
                      </a:r>
                    </a:p>
                  </a:txBody>
                  <a:tcPr marL="9525" marR="9525" marT="9525" marB="0" anchor="b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Policy (separate service)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Policy (separate service)</a:t>
                      </a:r>
                    </a:p>
                    <a:p>
                      <a:pPr algn="ctr" fontAlgn="b"/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Metropolis" panose="0000050000000000000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Cloud State</a:t>
                      </a:r>
                    </a:p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Policy &amp; Governance</a:t>
                      </a:r>
                    </a:p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Module Repository</a:t>
                      </a:r>
                    </a:p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Web Portal</a:t>
                      </a:r>
                    </a:p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Cost Estimation</a:t>
                      </a: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Cloud State</a:t>
                      </a:r>
                    </a:p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Policy &amp; Governance</a:t>
                      </a:r>
                    </a:p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etropolis" panose="00000500000000000000"/>
                        </a:rPr>
                        <a:t>Web Portal</a:t>
                      </a:r>
                    </a:p>
                  </a:txBody>
                  <a:tcPr marL="9525" marR="9525" marT="9525" marB="0"/>
                </a:tc>
                <a:extLst>
                  <a:ext uri="{0D108BD9-81ED-4DB2-BD59-A6C34878D82A}">
                    <a16:rowId xmlns:a16="http://schemas.microsoft.com/office/drawing/2014/main" val="2374489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3942211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8766F-C534-403E-92A1-86AFA261D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577" y="347195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Metropolis" panose="00000500000000000000" pitchFamily="50" charset="0"/>
              </a:rPr>
              <a:t>Useful Resources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FE902D-92E4-405D-AFD1-8A5397820758}"/>
              </a:ext>
            </a:extLst>
          </p:cNvPr>
          <p:cNvSpPr txBox="1"/>
          <p:nvPr/>
        </p:nvSpPr>
        <p:spPr>
          <a:xfrm>
            <a:off x="542741" y="1746208"/>
            <a:ext cx="10207436" cy="3676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Bicep GitHub Repository - </a:t>
            </a:r>
            <a:r>
              <a:rPr lang="en-GB" sz="2400" dirty="0">
                <a:latin typeface="Metropolis" panose="00000500000000000000" pitchFamily="50" charset="0"/>
                <a:hlinkClick r:id="rId3"/>
              </a:rPr>
              <a:t>https://cogan.to/rtj</a:t>
            </a:r>
            <a:r>
              <a:rPr lang="en-GB" sz="2400" dirty="0">
                <a:latin typeface="Metropolis" panose="00000500000000000000" pitchFamily="50" charset="0"/>
              </a:rPr>
              <a:t>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Bicep Tutorial - </a:t>
            </a:r>
            <a:r>
              <a:rPr lang="en-GB" sz="2400" dirty="0">
                <a:latin typeface="Metropolis" panose="00000500000000000000" pitchFamily="50" charset="0"/>
                <a:hlinkClick r:id="rId4"/>
              </a:rPr>
              <a:t>https://cogan.to/c5t</a:t>
            </a:r>
            <a:r>
              <a:rPr lang="en-GB" sz="2400" dirty="0">
                <a:latin typeface="Metropolis" panose="00000500000000000000" pitchFamily="50" charset="0"/>
              </a:rPr>
              <a:t>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Introduction to Bicep - </a:t>
            </a:r>
            <a:r>
              <a:rPr lang="en-GB" sz="2400" dirty="0">
                <a:latin typeface="Metropolis" panose="00000500000000000000" pitchFamily="50" charset="0"/>
                <a:hlinkClick r:id="rId5"/>
              </a:rPr>
              <a:t>https://cogan.to/x6t</a:t>
            </a:r>
            <a:r>
              <a:rPr lang="en-GB" sz="2400" dirty="0">
                <a:latin typeface="Metropolis" panose="00000500000000000000" pitchFamily="50" charset="0"/>
              </a:rPr>
              <a:t>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latin typeface="Metropolis" panose="00000500000000000000" pitchFamily="50" charset="0"/>
              </a:rPr>
              <a:t>These slides and demos -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GB" sz="2400" dirty="0">
              <a:latin typeface="Metropolis" panose="00000500000000000000" pitchFamily="50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70371E9A-DD76-46EC-9670-6F68E047CC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89647" y="4835012"/>
            <a:ext cx="1721059" cy="172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012804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1292</Words>
  <Application>Microsoft Office PowerPoint</Application>
  <PresentationFormat>Widescreen</PresentationFormat>
  <Paragraphs>192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Calibri</vt:lpstr>
      <vt:lpstr>Calibri Light</vt:lpstr>
      <vt:lpstr>Consolas</vt:lpstr>
      <vt:lpstr>Metropolis</vt:lpstr>
      <vt:lpstr>Segoe UI</vt:lpstr>
      <vt:lpstr>Wingdings</vt:lpstr>
      <vt:lpstr>Office Theme</vt:lpstr>
      <vt:lpstr>Project Bicep: ARM Templates Evolved</vt:lpstr>
      <vt:lpstr>About Me</vt:lpstr>
      <vt:lpstr>ARM Templates</vt:lpstr>
      <vt:lpstr>Bicep</vt:lpstr>
      <vt:lpstr>Bicep</vt:lpstr>
      <vt:lpstr>PowerPoint Presentation</vt:lpstr>
      <vt:lpstr>Benefits of Bicep</vt:lpstr>
      <vt:lpstr>Demo</vt:lpstr>
      <vt:lpstr>Custom Modules</vt:lpstr>
      <vt:lpstr>Demo</vt:lpstr>
      <vt:lpstr>Migrating to Bicep</vt:lpstr>
      <vt:lpstr>Why Use Bicep?</vt:lpstr>
      <vt:lpstr>IaC Tooling Comparison</vt:lpstr>
      <vt:lpstr>Useful Resources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Bicep: ARM Templates Evolved</dc:title>
  <dc:creator>Sam Cogan</dc:creator>
  <cp:lastModifiedBy>Sam Cogan</cp:lastModifiedBy>
  <cp:revision>9</cp:revision>
  <dcterms:created xsi:type="dcterms:W3CDTF">2020-11-29T11:18:11Z</dcterms:created>
  <dcterms:modified xsi:type="dcterms:W3CDTF">2020-11-29T12:55:59Z</dcterms:modified>
</cp:coreProperties>
</file>