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0" r:id="rId3"/>
    <p:sldId id="1912" r:id="rId4"/>
    <p:sldId id="1913" r:id="rId5"/>
    <p:sldId id="1914" r:id="rId6"/>
    <p:sldId id="1915" r:id="rId7"/>
    <p:sldId id="1918" r:id="rId8"/>
    <p:sldId id="1916" r:id="rId9"/>
    <p:sldId id="1917" r:id="rId10"/>
    <p:sldId id="1919" r:id="rId11"/>
    <p:sldId id="1920" r:id="rId12"/>
    <p:sldId id="1921" r:id="rId13"/>
    <p:sldId id="1906" r:id="rId14"/>
    <p:sldId id="1922" r:id="rId15"/>
    <p:sldId id="192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2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AA6C2-67FA-462D-8715-8A3AB3FE9591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A2021-C5DB-4895-BDEE-247A75FF9D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628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030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81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601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380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491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733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45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26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389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1020"/>
            <a:ext cx="5486400" cy="4114800"/>
          </a:xfrm>
        </p:spPr>
        <p:txBody>
          <a:bodyPr/>
          <a:lstStyle/>
          <a:p>
            <a:r>
              <a:rPr lang="en-GB" dirty="0" err="1"/>
              <a:t>FunctionExamples.json</a:t>
            </a:r>
            <a:r>
              <a:rPr lang="en-GB" dirty="0"/>
              <a:t> – </a:t>
            </a:r>
            <a:r>
              <a:rPr lang="en-GB" dirty="0" err="1"/>
              <a:t>UniqueString</a:t>
            </a:r>
            <a:r>
              <a:rPr lang="en-GB" dirty="0"/>
              <a:t>, </a:t>
            </a:r>
            <a:r>
              <a:rPr lang="en-GB" dirty="0" err="1"/>
              <a:t>ResourceGroup</a:t>
            </a:r>
            <a:r>
              <a:rPr lang="en-GB" dirty="0"/>
              <a:t>, </a:t>
            </a:r>
            <a:r>
              <a:rPr lang="en-GB" dirty="0" err="1"/>
              <a:t>ListKeys</a:t>
            </a:r>
            <a:r>
              <a:rPr lang="en-GB" dirty="0"/>
              <a:t>, </a:t>
            </a:r>
            <a:r>
              <a:rPr lang="en-GB" dirty="0" err="1"/>
              <a:t>toLower</a:t>
            </a:r>
            <a:endParaRPr lang="en-GB" dirty="0"/>
          </a:p>
          <a:p>
            <a:r>
              <a:rPr lang="en-GB" dirty="0" err="1"/>
              <a:t>SaSToken.json</a:t>
            </a:r>
            <a:r>
              <a:rPr lang="en-GB" dirty="0"/>
              <a:t> – generating a SAS token with </a:t>
            </a:r>
            <a:r>
              <a:rPr lang="en-GB" dirty="0" err="1"/>
              <a:t>ListKeys</a:t>
            </a:r>
            <a:endParaRPr lang="en-GB" dirty="0"/>
          </a:p>
          <a:p>
            <a:r>
              <a:rPr lang="en-GB" dirty="0" err="1"/>
              <a:t>Mod.json</a:t>
            </a:r>
            <a:r>
              <a:rPr lang="en-GB" dirty="0"/>
              <a:t> – using mod to alternate between storage accounts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11/29/2020 12:57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823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86CF-B25F-42FF-B6E2-8AC7ED399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9A8D2-3DB6-4031-9B0F-F7A804442D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1FD8F-4402-4250-B255-AC6623AF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0068F-6D60-42AA-8C61-AE9D2526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E717E-1E92-4229-95C3-154C70FC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56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FB4D-B0C4-490E-A5F6-C2DCC664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924A7-C5E0-4134-857C-1B4C3627C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9A22F-9AA4-4461-BB13-9384F122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C5EBD-1B4B-4889-A9F5-F84BC42A7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3AA43-BFC7-4822-8220-94D72BA7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32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E883-1B8D-42E2-9419-031B07AE9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84F64-2135-4DA5-B20F-B704E5182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F15BB-9DA2-4EEC-9B72-DDC3E5BC3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1FE91-1EF4-4385-9E6D-232736FBF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A81C1-FB38-4934-BA28-F48CE602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715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92EA-6CD0-44A2-8C79-C3A2B7A00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A93B8-3F85-445C-946C-A3A1622B4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8D7AE-371A-464E-A22B-14C281FAA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CD877-39F7-40CE-B78E-B229CCC0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67038-846C-4766-8DF2-46068ED1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88CCA-D291-4AB6-B9D1-74C22CA1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52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12CC-C421-45AF-9D8F-D88CB4511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6FCC5-5E4F-479F-BC4F-31CF780C2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BEA6A0-4749-4F01-867C-F4D457806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A788E5-A8DB-4276-BDBB-19A1284210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921D68-3A2C-4A88-ACE5-E4782110C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2A816-2E8F-43E3-8FA0-3DE3B610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69C4E-8248-48E6-9C63-D0C04D86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3605FA-A024-4938-A8D0-68CE902D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56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E0023-A252-40A1-8462-2DADB9C2B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4DE7C-A2B3-4B5E-9656-5C231B4B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C8DC6-85A6-4967-8A39-D5C4DE3C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738D9-E050-43D5-A42C-C47E0E97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39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DEB1E-F70A-4456-849A-F892CF40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96553-B2D7-4533-BFBF-22BD5DBD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40B26-7D90-4E17-B29B-F343520C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1295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ACA0-934F-4A92-9658-C085C3D4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0FF60-E80B-4C50-A9F3-160E973A3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CC4DF3-662E-4F6E-AA1E-5B9082CC5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222D2-114E-4078-8D6C-24CF9463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CC1EA-F3F4-4144-9B64-62D2E1BE6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723C2-77C6-41DB-B924-7244EF069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32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F6F30-D754-4075-BCAC-516E8D703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D348C-AF27-4729-9372-00BCCE286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B6D1B-D580-40B5-9EDA-56F8D3D46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D00AF-B19F-4BE5-8554-93E88F81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C26AD-5D54-4D4C-B9CF-F7329F65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99F3F-FDBF-48E0-BC60-EB2D3F15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98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7131-4035-4B03-93A7-7BE80BDF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79202-2355-4F81-A6BE-8C8C1F211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02E29-5591-463E-8CE3-303BCE65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D5C73-885C-4573-A798-BAA563FF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BE9EF-AD99-4065-A9CC-D5D799E3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86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8416E-0175-41D5-8390-63D65F9B1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73BA6-E53E-49B4-99D0-8248854C8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F54EB-D760-4B74-B54F-BE4C07BA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8F8DD-C2B2-4B70-A102-A1E8DBC3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1C791-9875-428A-96B9-901FE306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628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23392" y="355600"/>
            <a:ext cx="10944192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de-DE" dirty="0"/>
              <a:t>Title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23392" y="1615667"/>
            <a:ext cx="10944192" cy="4693653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marL="609585" lvl="0" indent="-609585"/>
            <a:endParaRPr lang="de-DE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409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8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0883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90C50-6B74-42E0-B1EA-37CCEA403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E99B3-70DC-40C9-A0F7-6399679B7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0489B-C1B7-4091-B5BE-0677B73B5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DE781-530C-4B16-8163-2FBF34F544F2}" type="datetimeFigureOut">
              <a:rPr lang="en-GB" smtClean="0"/>
              <a:t>29/11/2020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16183-B12C-4619-9ED7-B26E33B38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F2149-E553-4616-A9BE-C07799DF2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2E1F7-45EE-4B57-8F57-93A21D7C5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25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hyperlink" Target="https://cogan.to/rtj" TargetMode="Externa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ogan.to/an9" TargetMode="External"/><Relationship Id="rId5" Type="http://schemas.openxmlformats.org/officeDocument/2006/relationships/hyperlink" Target="https://cogan.to/x6t" TargetMode="External"/><Relationship Id="rId4" Type="http://schemas.openxmlformats.org/officeDocument/2006/relationships/hyperlink" Target="https://cogan.to/c5t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8E643FE-FFEF-44E9-AF44-E19658A3C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532" y="750251"/>
            <a:ext cx="4700753" cy="4700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4C65BC-D794-4019-84AF-E226B4014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Project Bicep:</a:t>
            </a:r>
            <a:b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</a:br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ARM Templates Evolved</a:t>
            </a:r>
            <a:endParaRPr lang="en-GB" sz="3600" dirty="0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039BC-2378-481E-AC12-84D135B88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Sam Cogan</a:t>
            </a:r>
          </a:p>
          <a:p>
            <a:pPr algn="l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Solution Architect, Willis Towers Watson &amp; Microsoft MVP</a:t>
            </a:r>
          </a:p>
          <a:p>
            <a:pPr algn="l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AC5797-7E80-4D6A-BC90-315D2634C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975" y="5980837"/>
            <a:ext cx="3372971" cy="6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6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234C-963A-4BDB-AC81-D452BD38A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About Me</a:t>
            </a:r>
            <a:endParaRPr lang="en-CH" dirty="0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pic>
        <p:nvPicPr>
          <p:cNvPr id="4" name="Picture 2" descr="Title762406932">
            <a:extLst>
              <a:ext uri="{FF2B5EF4-FFF2-40B4-BE49-F238E27FC236}">
                <a16:creationId xmlns:a16="http://schemas.microsoft.com/office/drawing/2014/main" id="{7BA46E82-A330-4DEF-98B2-20DEE3005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67" y="1630247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72E7FA-7992-477F-8C4E-C1FB1F056038}"/>
              </a:ext>
            </a:extLst>
          </p:cNvPr>
          <p:cNvSpPr txBox="1"/>
          <p:nvPr/>
        </p:nvSpPr>
        <p:spPr>
          <a:xfrm>
            <a:off x="4470400" y="1630247"/>
            <a:ext cx="6868868" cy="221618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6400" dirty="0">
                <a:solidFill>
                  <a:schemeClr val="accent1"/>
                </a:solidFill>
                <a:latin typeface="Metropolis" panose="00000500000000000000" pitchFamily="50" charset="0"/>
              </a:rPr>
              <a:t>Sam Cogan</a:t>
            </a:r>
          </a:p>
          <a:p>
            <a:pPr algn="l"/>
            <a:br>
              <a:rPr lang="en-GB" sz="2667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Metropolis" panose="00000500000000000000" pitchFamily="50" charset="0"/>
              </a:rPr>
            </a:br>
            <a:r>
              <a:rPr lang="en-GB" sz="2667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Solution Architect – Willis Towers Watson</a:t>
            </a:r>
          </a:p>
          <a:p>
            <a:pPr algn="l"/>
            <a:r>
              <a:rPr lang="en-GB" sz="2667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Microsoft Azure MVP</a:t>
            </a:r>
            <a:endParaRPr lang="en-US" sz="2667" dirty="0" err="1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22BEF-6E4F-4173-9BCF-3D301F132299}"/>
              </a:ext>
            </a:extLst>
          </p:cNvPr>
          <p:cNvSpPr txBox="1"/>
          <p:nvPr/>
        </p:nvSpPr>
        <p:spPr>
          <a:xfrm>
            <a:off x="4947458" y="4647155"/>
            <a:ext cx="3781849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2667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samcogan.com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486BDD-2E81-4057-B118-D61C45BE6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0400" y="4647153"/>
            <a:ext cx="410371" cy="4103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E6D920-E851-40EA-AD43-4817ADB66F02}"/>
              </a:ext>
            </a:extLst>
          </p:cNvPr>
          <p:cNvSpPr txBox="1"/>
          <p:nvPr/>
        </p:nvSpPr>
        <p:spPr>
          <a:xfrm>
            <a:off x="4947458" y="5114149"/>
            <a:ext cx="1990930" cy="410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2667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@</a:t>
            </a:r>
            <a:r>
              <a:rPr lang="en-GB" sz="26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samcogan</a:t>
            </a:r>
            <a:endParaRPr lang="en-GB" sz="2667" dirty="0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D77926-6B43-46A4-8531-41825BB99E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0401" y="5114149"/>
            <a:ext cx="410369" cy="4103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9917EE-278B-4969-9893-5A9728BCB1BE}"/>
              </a:ext>
            </a:extLst>
          </p:cNvPr>
          <p:cNvSpPr txBox="1"/>
          <p:nvPr/>
        </p:nvSpPr>
        <p:spPr>
          <a:xfrm>
            <a:off x="4947458" y="5581142"/>
            <a:ext cx="1816203" cy="410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26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sam-cogan</a:t>
            </a:r>
            <a:endParaRPr lang="en-GB" sz="2667" dirty="0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0709674-EC71-4F67-85DC-FB88FA4846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4369" y="5585111"/>
            <a:ext cx="406400" cy="406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7ED0C9-C5A8-4D71-9EF4-B76CB5CDA0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40" y="4857560"/>
            <a:ext cx="2289053" cy="92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36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766F-C534-403E-92A1-86AFA261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7" y="34719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ARM Templates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A9F051-D537-412A-9AD7-6EDD86D5B8C6}"/>
              </a:ext>
            </a:extLst>
          </p:cNvPr>
          <p:cNvSpPr/>
          <p:nvPr/>
        </p:nvSpPr>
        <p:spPr>
          <a:xfrm>
            <a:off x="127819" y="1405901"/>
            <a:ext cx="1012526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"storageaccount1"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Microsoft.Storage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24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storageAccounts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apiVersion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"2019-06-01"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tags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displayName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"storageaccount1"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},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"[</a:t>
            </a:r>
            <a:r>
              <a:rPr lang="en-GB" sz="24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resourceGroup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GB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]"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kind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"StorageV2"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sku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Premium_LRS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1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tier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":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"Premium"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GB" sz="24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37086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766F-C534-403E-92A1-86AFA261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7" y="34719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Bicep</a:t>
            </a:r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C1455027-99DE-4D59-B472-8062001E3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856" y="1480738"/>
            <a:ext cx="6930969" cy="475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78742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766F-C534-403E-92A1-86AFA261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7" y="34719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Bicep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CF20A8-07D9-42C2-940B-F7F9F8902956}"/>
              </a:ext>
            </a:extLst>
          </p:cNvPr>
          <p:cNvSpPr/>
          <p:nvPr/>
        </p:nvSpPr>
        <p:spPr>
          <a:xfrm>
            <a:off x="82177" y="1979525"/>
            <a:ext cx="13686917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3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3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storageaccount1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3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23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Microsoft.Storage</a:t>
            </a:r>
            <a:r>
              <a:rPr lang="en-GB" sz="23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/storageAccounts@2019-06-01'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={</a:t>
            </a:r>
          </a:p>
          <a:p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3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GB" sz="23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'storageaccount1'</a:t>
            </a:r>
            <a:endParaRPr lang="en-GB" sz="2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3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kind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GB" sz="23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'StorageV2'</a:t>
            </a:r>
            <a:endParaRPr lang="en-GB" sz="2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3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GB" sz="23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resourceGroup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GB" sz="2300" b="1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location</a:t>
            </a:r>
            <a:endParaRPr lang="en-GB" sz="2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3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sku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{</a:t>
            </a:r>
          </a:p>
          <a:p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3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GB" sz="23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23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Standard_LRS</a:t>
            </a:r>
            <a:r>
              <a:rPr lang="en-GB" sz="23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GB" sz="2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3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tier</a:t>
            </a:r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GB" sz="23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'Standard'</a:t>
            </a:r>
            <a:endParaRPr lang="en-GB" sz="2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en-GB" sz="2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708488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CF20A8-07D9-42C2-940B-F7F9F8902956}"/>
              </a:ext>
            </a:extLst>
          </p:cNvPr>
          <p:cNvSpPr/>
          <p:nvPr/>
        </p:nvSpPr>
        <p:spPr>
          <a:xfrm>
            <a:off x="335073" y="333604"/>
            <a:ext cx="115218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  <a:ea typeface="+mj-ea"/>
                <a:cs typeface="+mj-cs"/>
              </a:rPr>
              <a:t>Bicep is currently in preview</a:t>
            </a:r>
          </a:p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GB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  <a:ea typeface="+mj-ea"/>
                <a:cs typeface="+mj-cs"/>
              </a:rPr>
              <a:t>It is not ready for production!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79D6EB-620E-4DC6-94D5-7F567E9D3B67}"/>
              </a:ext>
            </a:extLst>
          </p:cNvPr>
          <p:cNvSpPr txBox="1"/>
          <p:nvPr/>
        </p:nvSpPr>
        <p:spPr>
          <a:xfrm>
            <a:off x="959818" y="3246250"/>
            <a:ext cx="102723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Metropolis" panose="00000500000000000000" pitchFamily="50" charset="0"/>
              </a:rPr>
              <a:t>There are features in ARM templates that are not yet ready in Bicep: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Copy Loops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Condition Property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Single line Objects and Arrays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Support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FD8764-8F84-4EC5-B219-97DEC86E8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5295" y="1669387"/>
            <a:ext cx="1441409" cy="144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8767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766F-C534-403E-92A1-86AFA261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7" y="34719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Benefits of Bicep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99BD84-2397-4BD1-9376-E435C083975E}"/>
              </a:ext>
            </a:extLst>
          </p:cNvPr>
          <p:cNvSpPr txBox="1"/>
          <p:nvPr/>
        </p:nvSpPr>
        <p:spPr>
          <a:xfrm>
            <a:off x="336263" y="1463054"/>
            <a:ext cx="8913017" cy="44615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Simpler Syntax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Simple string interpolation – goodbye </a:t>
            </a:r>
            <a:r>
              <a:rPr lang="en-GB" sz="2400" dirty="0" err="1">
                <a:latin typeface="Metropolis" panose="00000500000000000000" pitchFamily="50" charset="0"/>
              </a:rPr>
              <a:t>concat</a:t>
            </a:r>
            <a:r>
              <a:rPr lang="en-GB" sz="2400" dirty="0">
                <a:latin typeface="Metropolis" panose="00000500000000000000" pitchFamily="50" charset="0"/>
              </a:rPr>
              <a:t>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Simple resource declaration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Direct property access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Modularisation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Declare parameters, variables, types anywhere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Automatic dependency management (in some scenarios)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Improved validation and </a:t>
            </a:r>
            <a:r>
              <a:rPr lang="en-GB" sz="2400" dirty="0" err="1">
                <a:latin typeface="Metropolis" panose="00000500000000000000" pitchFamily="50" charset="0"/>
              </a:rPr>
              <a:t>Intellisense</a:t>
            </a:r>
            <a:endParaRPr lang="en-GB" sz="2400" dirty="0">
              <a:latin typeface="Metropolis" panose="00000500000000000000" pitchFamily="50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3A2C727-ED42-4BD4-8D62-47F3907F5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0358" y="4627347"/>
            <a:ext cx="1883458" cy="1883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42353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8E643FE-FFEF-44E9-AF44-E19658A3C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532" y="750251"/>
            <a:ext cx="4700753" cy="4700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4C65BC-D794-4019-84AF-E226B4014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Demo</a:t>
            </a:r>
            <a:endParaRPr lang="en-GB" sz="3600" dirty="0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AC5797-7E80-4D6A-BC90-315D2634C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975" y="5980837"/>
            <a:ext cx="3372971" cy="633775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C7288170-FAD2-488D-92E4-7693340CD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GB" dirty="0"/>
              <a:t>Using Bicep</a:t>
            </a:r>
          </a:p>
        </p:txBody>
      </p:sp>
    </p:spTree>
    <p:extLst>
      <p:ext uri="{BB962C8B-B14F-4D97-AF65-F5344CB8AC3E}">
        <p14:creationId xmlns:p14="http://schemas.microsoft.com/office/powerpoint/2010/main" val="1693526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766F-C534-403E-92A1-86AFA261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7" y="34719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Custom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5C6E05-AB64-4DD6-8F1A-0BFD566FB478}"/>
              </a:ext>
            </a:extLst>
          </p:cNvPr>
          <p:cNvSpPr/>
          <p:nvPr/>
        </p:nvSpPr>
        <p:spPr>
          <a:xfrm>
            <a:off x="2475760" y="2274838"/>
            <a:ext cx="741155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stgacct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GB" sz="24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storage_module.bicep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={</a:t>
            </a: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2400" b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storageaccount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GB" sz="24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{</a:t>
            </a: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GB" sz="2400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storageAccountName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GB" sz="24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sz="2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stg'</a:t>
            </a:r>
            <a:endParaRPr lang="en-GB" sz="24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r>
              <a:rPr lang="en-GB" sz="2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025403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8E643FE-FFEF-44E9-AF44-E19658A3C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532" y="750251"/>
            <a:ext cx="4700753" cy="4700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4C65BC-D794-4019-84AF-E226B4014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Demo</a:t>
            </a:r>
            <a:endParaRPr lang="en-GB" sz="3600" dirty="0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AC5797-7E80-4D6A-BC90-315D2634C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1975" y="5980837"/>
            <a:ext cx="3372971" cy="633775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C7288170-FAD2-488D-92E4-7693340CD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GB" dirty="0"/>
              <a:t>Modules</a:t>
            </a:r>
          </a:p>
        </p:txBody>
      </p:sp>
    </p:spTree>
    <p:extLst>
      <p:ext uri="{BB962C8B-B14F-4D97-AF65-F5344CB8AC3E}">
        <p14:creationId xmlns:p14="http://schemas.microsoft.com/office/powerpoint/2010/main" val="3286932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766F-C534-403E-92A1-86AFA261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7" y="34719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Migrating to Bicep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E902D-92E4-405D-AFD1-8A5397820758}"/>
              </a:ext>
            </a:extLst>
          </p:cNvPr>
          <p:cNvSpPr txBox="1"/>
          <p:nvPr/>
        </p:nvSpPr>
        <p:spPr>
          <a:xfrm>
            <a:off x="542741" y="1746208"/>
            <a:ext cx="10207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Metropolis" panose="00000500000000000000" pitchFamily="50" charset="0"/>
              </a:rPr>
              <a:t>Manual conversion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Metropolis" panose="00000500000000000000" pitchFamily="50" charset="0"/>
              </a:rPr>
              <a:t>Decompile an ARM Template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Metropolis" panose="00000500000000000000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F0C48EA-E703-420D-81A8-7C2133A80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91687" y="4253435"/>
            <a:ext cx="2542129" cy="2542129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8379820-95A1-4E91-BE70-3BD943BB0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02" y="2484872"/>
            <a:ext cx="69317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bicep decompile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"path/to/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file.json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8696C-8697-49F3-B8A0-2EEA68478E66}"/>
              </a:ext>
            </a:extLst>
          </p:cNvPr>
          <p:cNvSpPr txBox="1"/>
          <p:nvPr/>
        </p:nvSpPr>
        <p:spPr>
          <a:xfrm>
            <a:off x="542741" y="3038870"/>
            <a:ext cx="3717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Metropolis" panose="00000500000000000000" pitchFamily="50" charset="0"/>
              </a:rPr>
              <a:t>Decompile a Resource Group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988D7B2-4A87-43C4-847D-88FFD8434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35" y="3408202"/>
            <a:ext cx="1071960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rgbClr val="24292E"/>
                </a:solidFill>
                <a:latin typeface="Consolas" panose="020B0609020204030204" pitchFamily="49" charset="0"/>
              </a:rPr>
              <a:t>az</a:t>
            </a:r>
            <a:r>
              <a:rPr lang="en-US" altLang="en-US" sz="2400" dirty="0">
                <a:solidFill>
                  <a:srgbClr val="24292E"/>
                </a:solidFill>
                <a:latin typeface="Consolas" panose="020B0609020204030204" pitchFamily="49" charset="0"/>
              </a:rPr>
              <a:t> group export --name "</a:t>
            </a:r>
            <a:r>
              <a:rPr lang="en-US" altLang="en-US" sz="2400" dirty="0" err="1">
                <a:solidFill>
                  <a:srgbClr val="24292E"/>
                </a:solidFill>
                <a:latin typeface="Consolas" panose="020B0609020204030204" pitchFamily="49" charset="0"/>
              </a:rPr>
              <a:t>your_resource_group_name</a:t>
            </a:r>
            <a:r>
              <a:rPr lang="en-US" altLang="en-US" sz="2400" dirty="0">
                <a:solidFill>
                  <a:srgbClr val="24292E"/>
                </a:solidFill>
                <a:latin typeface="Consolas" panose="020B0609020204030204" pitchFamily="49" charset="0"/>
              </a:rPr>
              <a:t>" &gt; </a:t>
            </a:r>
            <a:r>
              <a:rPr lang="en-US" altLang="en-US" sz="2400" dirty="0" err="1">
                <a:solidFill>
                  <a:srgbClr val="24292E"/>
                </a:solidFill>
                <a:latin typeface="Consolas" panose="020B0609020204030204" pitchFamily="49" charset="0"/>
              </a:rPr>
              <a:t>main.json</a:t>
            </a:r>
            <a:r>
              <a:rPr lang="en-US" altLang="en-US" sz="2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4292E"/>
                </a:solidFill>
                <a:latin typeface="Consolas" panose="020B0609020204030204" pitchFamily="49" charset="0"/>
              </a:rPr>
              <a:t>bicep decompile </a:t>
            </a:r>
            <a:r>
              <a:rPr lang="en-US" altLang="en-US" sz="2400" dirty="0" err="1">
                <a:solidFill>
                  <a:srgbClr val="24292E"/>
                </a:solidFill>
                <a:latin typeface="Consolas" panose="020B0609020204030204" pitchFamily="49" charset="0"/>
              </a:rPr>
              <a:t>main.json</a:t>
            </a:r>
            <a:r>
              <a:rPr lang="en-US" altLang="en-US" sz="2400" dirty="0">
                <a:solidFill>
                  <a:srgbClr val="24292E"/>
                </a:solidFill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297390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766F-C534-403E-92A1-86AFA261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7" y="34719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Why Use Bicep?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E902D-92E4-405D-AFD1-8A5397820758}"/>
              </a:ext>
            </a:extLst>
          </p:cNvPr>
          <p:cNvSpPr txBox="1"/>
          <p:nvPr/>
        </p:nvSpPr>
        <p:spPr>
          <a:xfrm>
            <a:off x="542741" y="1746208"/>
            <a:ext cx="10207436" cy="515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New users coming to </a:t>
            </a:r>
            <a:r>
              <a:rPr lang="en-GB" sz="2400" dirty="0" err="1">
                <a:latin typeface="Metropolis" panose="00000500000000000000" pitchFamily="50" charset="0"/>
              </a:rPr>
              <a:t>IaC</a:t>
            </a:r>
            <a:r>
              <a:rPr lang="en-GB" sz="2400" dirty="0">
                <a:latin typeface="Metropolis" panose="00000500000000000000" pitchFamily="50" charset="0"/>
              </a:rPr>
              <a:t> in Azure for the first time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Existing ARM users wanting a simpler language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Existing ARM users wanting new language features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Access to the latest Azure resources fastest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Support from Microsoft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2400" dirty="0">
              <a:latin typeface="Metropolis" panose="00000500000000000000" pitchFamily="50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2400" dirty="0">
              <a:latin typeface="Metropolis" panose="00000500000000000000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4EBCC44-BBF8-429E-901F-539197CE2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5958" y="4855170"/>
            <a:ext cx="1728018" cy="172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9363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766F-C534-403E-92A1-86AFA261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7" y="-1487"/>
            <a:ext cx="10515600" cy="1325563"/>
          </a:xfrm>
        </p:spPr>
        <p:txBody>
          <a:bodyPr/>
          <a:lstStyle/>
          <a:p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IaC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 Tooling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156387-9CEE-42CB-8F12-CEF65B969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38720"/>
              </p:ext>
            </p:extLst>
          </p:nvPr>
        </p:nvGraphicFramePr>
        <p:xfrm>
          <a:off x="631230" y="1374550"/>
          <a:ext cx="10229483" cy="408150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370614">
                  <a:extLst>
                    <a:ext uri="{9D8B030D-6E8A-4147-A177-3AD203B41FA5}">
                      <a16:colId xmlns:a16="http://schemas.microsoft.com/office/drawing/2014/main" val="2078874854"/>
                    </a:ext>
                  </a:extLst>
                </a:gridCol>
                <a:gridCol w="2012543">
                  <a:extLst>
                    <a:ext uri="{9D8B030D-6E8A-4147-A177-3AD203B41FA5}">
                      <a16:colId xmlns:a16="http://schemas.microsoft.com/office/drawing/2014/main" val="3999795245"/>
                    </a:ext>
                  </a:extLst>
                </a:gridCol>
                <a:gridCol w="1928370">
                  <a:extLst>
                    <a:ext uri="{9D8B030D-6E8A-4147-A177-3AD203B41FA5}">
                      <a16:colId xmlns:a16="http://schemas.microsoft.com/office/drawing/2014/main" val="727194672"/>
                    </a:ext>
                  </a:extLst>
                </a:gridCol>
                <a:gridCol w="2007847">
                  <a:extLst>
                    <a:ext uri="{9D8B030D-6E8A-4147-A177-3AD203B41FA5}">
                      <a16:colId xmlns:a16="http://schemas.microsoft.com/office/drawing/2014/main" val="771222460"/>
                    </a:ext>
                  </a:extLst>
                </a:gridCol>
                <a:gridCol w="1910109">
                  <a:extLst>
                    <a:ext uri="{9D8B030D-6E8A-4147-A177-3AD203B41FA5}">
                      <a16:colId xmlns:a16="http://schemas.microsoft.com/office/drawing/2014/main" val="3441285402"/>
                    </a:ext>
                  </a:extLst>
                </a:gridCol>
              </a:tblGrid>
              <a:tr h="834861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>
                          <a:effectLst/>
                          <a:latin typeface="Metropolis" panose="00000500000000000000"/>
                        </a:rPr>
                        <a:t>ARM Templates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>
                          <a:effectLst/>
                          <a:latin typeface="Metropolis" panose="00000500000000000000"/>
                        </a:rPr>
                        <a:t>Bicep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>
                          <a:effectLst/>
                          <a:latin typeface="Metropolis" panose="00000500000000000000"/>
                        </a:rPr>
                        <a:t>Terraform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000" u="none" strike="noStrike" dirty="0" err="1">
                          <a:effectLst/>
                          <a:latin typeface="Metropolis" panose="00000500000000000000"/>
                        </a:rPr>
                        <a:t>Pulumi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62795"/>
                  </a:ext>
                </a:extLst>
              </a:tr>
              <a:tr h="56328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  <a:latin typeface="Metropolis" panose="00000500000000000000"/>
                        </a:rPr>
                        <a:t>Languages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  <a:latin typeface="Metropolis" panose="00000500000000000000"/>
                        </a:rPr>
                        <a:t>JSON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  <a:latin typeface="Metropolis" panose="00000500000000000000"/>
                        </a:rPr>
                        <a:t>Custom DSL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  <a:latin typeface="Metropolis" panose="00000500000000000000"/>
                        </a:rPr>
                        <a:t>Custom DSL (HCL)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  <a:latin typeface="Metropolis" panose="00000500000000000000"/>
                        </a:rPr>
                        <a:t>Node JS (TS, JS), Python, .NET Core, GO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438460747"/>
                  </a:ext>
                </a:extLst>
              </a:tr>
              <a:tr h="310358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Complexity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High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Medium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High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High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099762293"/>
                  </a:ext>
                </a:extLst>
              </a:tr>
              <a:tr h="310358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Speed Of Update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Fast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Fast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Slower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Slower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169245444"/>
                  </a:ext>
                </a:extLst>
              </a:tr>
              <a:tr h="310358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  <a:latin typeface="Metropolis" panose="00000500000000000000"/>
                        </a:rPr>
                        <a:t>Multi Cloud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No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No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Yes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Yes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134572627"/>
                  </a:ext>
                </a:extLst>
              </a:tr>
              <a:tr h="310358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  <a:latin typeface="Metropolis" panose="00000500000000000000"/>
                        </a:rPr>
                        <a:t>Stateful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No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No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Yes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Yes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173500142"/>
                  </a:ext>
                </a:extLst>
              </a:tr>
              <a:tr h="310358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  <a:latin typeface="Metropolis" panose="00000500000000000000"/>
                        </a:rPr>
                        <a:t>Open Source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No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Yes*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Yes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Yes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674464639"/>
                  </a:ext>
                </a:extLst>
              </a:tr>
              <a:tr h="25469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u="none" strike="noStrike" dirty="0">
                          <a:effectLst/>
                          <a:latin typeface="Metropolis" panose="00000500000000000000"/>
                        </a:rPr>
                        <a:t>Support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  <a:latin typeface="Metropolis" panose="00000500000000000000"/>
                        </a:rPr>
                        <a:t>Microsoft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Community (until 0.3)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>
                          <a:effectLst/>
                          <a:latin typeface="Metropolis" panose="00000500000000000000"/>
                        </a:rPr>
                        <a:t>Community/Paid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  <a:latin typeface="Metropolis" panose="00000500000000000000"/>
                        </a:rPr>
                        <a:t>Community/Paid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634202833"/>
                  </a:ext>
                </a:extLst>
              </a:tr>
              <a:tr h="25469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Additional Features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Policy (separate service)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Policy (separate service)</a:t>
                      </a:r>
                    </a:p>
                    <a:p>
                      <a:pPr algn="ctr" fontAlgn="b"/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Metropolis" panose="0000050000000000000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Cloud State</a:t>
                      </a:r>
                    </a:p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Policy &amp; Governance</a:t>
                      </a:r>
                    </a:p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Module Repository</a:t>
                      </a:r>
                    </a:p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Web Portal</a:t>
                      </a:r>
                    </a:p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Cost Estimation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Cloud State</a:t>
                      </a:r>
                    </a:p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Policy &amp; Governance</a:t>
                      </a:r>
                    </a:p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etropolis" panose="00000500000000000000"/>
                        </a:rPr>
                        <a:t>Web Portal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374489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94221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766F-C534-403E-92A1-86AFA261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77" y="34719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Useful Resources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E902D-92E4-405D-AFD1-8A5397820758}"/>
              </a:ext>
            </a:extLst>
          </p:cNvPr>
          <p:cNvSpPr txBox="1"/>
          <p:nvPr/>
        </p:nvSpPr>
        <p:spPr>
          <a:xfrm>
            <a:off x="542741" y="1746208"/>
            <a:ext cx="10207436" cy="3676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Bicep GitHub Repository - </a:t>
            </a:r>
            <a:r>
              <a:rPr lang="en-GB" sz="2400" dirty="0">
                <a:latin typeface="Metropolis" panose="00000500000000000000" pitchFamily="50" charset="0"/>
                <a:hlinkClick r:id="rId3"/>
              </a:rPr>
              <a:t>https://cogan.to/rtj</a:t>
            </a:r>
            <a:r>
              <a:rPr lang="en-GB" sz="2400" dirty="0">
                <a:latin typeface="Metropolis" panose="00000500000000000000" pitchFamily="50" charset="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Bicep Tutorial - </a:t>
            </a:r>
            <a:r>
              <a:rPr lang="en-GB" sz="2400" dirty="0">
                <a:latin typeface="Metropolis" panose="00000500000000000000" pitchFamily="50" charset="0"/>
                <a:hlinkClick r:id="rId4"/>
              </a:rPr>
              <a:t>https://cogan.to/c5t</a:t>
            </a:r>
            <a:r>
              <a:rPr lang="en-GB" sz="2400" dirty="0">
                <a:latin typeface="Metropolis" panose="00000500000000000000" pitchFamily="50" charset="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Introduction to Bicep - </a:t>
            </a:r>
            <a:r>
              <a:rPr lang="en-GB" sz="2400" dirty="0">
                <a:latin typeface="Metropolis" panose="00000500000000000000" pitchFamily="50" charset="0"/>
                <a:hlinkClick r:id="rId5"/>
              </a:rPr>
              <a:t>https://cogan.to/x6t</a:t>
            </a:r>
            <a:r>
              <a:rPr lang="en-GB" sz="2400" dirty="0">
                <a:latin typeface="Metropolis" panose="00000500000000000000" pitchFamily="50" charset="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Metropolis" panose="00000500000000000000" pitchFamily="50" charset="0"/>
              </a:rPr>
              <a:t>These slides and demos - </a:t>
            </a:r>
            <a:r>
              <a:rPr lang="en-GB" sz="2400" dirty="0">
                <a:latin typeface="Metropolis" panose="00000500000000000000" pitchFamily="50" charset="0"/>
                <a:hlinkClick r:id="rId6"/>
              </a:rPr>
              <a:t>https://cogan.to/an9</a:t>
            </a:r>
            <a:r>
              <a:rPr lang="en-GB" sz="2400" dirty="0">
                <a:latin typeface="Metropolis" panose="00000500000000000000" pitchFamily="50" charset="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2400" dirty="0">
              <a:latin typeface="Metropolis" panose="00000500000000000000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0371E9A-DD76-46EC-9670-6F68E047CC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89647" y="4835012"/>
            <a:ext cx="1721059" cy="172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1280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2234C-963A-4BDB-AC81-D452BD38A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About Me</a:t>
            </a:r>
            <a:endParaRPr lang="en-CH" dirty="0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pic>
        <p:nvPicPr>
          <p:cNvPr id="4" name="Picture 2" descr="Title762406932">
            <a:extLst>
              <a:ext uri="{FF2B5EF4-FFF2-40B4-BE49-F238E27FC236}">
                <a16:creationId xmlns:a16="http://schemas.microsoft.com/office/drawing/2014/main" id="{7BA46E82-A330-4DEF-98B2-20DEE3005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67" y="1630247"/>
            <a:ext cx="254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72E7FA-7992-477F-8C4E-C1FB1F056038}"/>
              </a:ext>
            </a:extLst>
          </p:cNvPr>
          <p:cNvSpPr txBox="1"/>
          <p:nvPr/>
        </p:nvSpPr>
        <p:spPr>
          <a:xfrm>
            <a:off x="4470400" y="1630247"/>
            <a:ext cx="6868868" cy="221618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6400" dirty="0">
                <a:solidFill>
                  <a:schemeClr val="accent1"/>
                </a:solidFill>
                <a:latin typeface="Metropolis" panose="00000500000000000000" pitchFamily="50" charset="0"/>
              </a:rPr>
              <a:t>Sam Cogan</a:t>
            </a:r>
          </a:p>
          <a:p>
            <a:pPr algn="l"/>
            <a:br>
              <a:rPr lang="en-GB" sz="2667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Metropolis" panose="00000500000000000000" pitchFamily="50" charset="0"/>
              </a:rPr>
            </a:br>
            <a:r>
              <a:rPr lang="en-GB" sz="2667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Solution Architect – Willis Towers Watson</a:t>
            </a:r>
          </a:p>
          <a:p>
            <a:pPr algn="l"/>
            <a:r>
              <a:rPr lang="en-GB" sz="2667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Microsoft Azure MVP</a:t>
            </a:r>
            <a:endParaRPr lang="en-US" sz="2667" dirty="0" err="1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22BEF-6E4F-4173-9BCF-3D301F132299}"/>
              </a:ext>
            </a:extLst>
          </p:cNvPr>
          <p:cNvSpPr txBox="1"/>
          <p:nvPr/>
        </p:nvSpPr>
        <p:spPr>
          <a:xfrm>
            <a:off x="4947458" y="4647155"/>
            <a:ext cx="3781849" cy="410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2667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samcogan.com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486BDD-2E81-4057-B118-D61C45BE6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0400" y="4647153"/>
            <a:ext cx="410371" cy="4103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E6D920-E851-40EA-AD43-4817ADB66F02}"/>
              </a:ext>
            </a:extLst>
          </p:cNvPr>
          <p:cNvSpPr txBox="1"/>
          <p:nvPr/>
        </p:nvSpPr>
        <p:spPr>
          <a:xfrm>
            <a:off x="4947458" y="5114149"/>
            <a:ext cx="1990930" cy="410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2667" dirty="0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@</a:t>
            </a:r>
            <a:r>
              <a:rPr lang="en-GB" sz="26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samcogan</a:t>
            </a:r>
            <a:endParaRPr lang="en-GB" sz="2667" dirty="0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FD77926-6B43-46A4-8531-41825BB99E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0401" y="5114149"/>
            <a:ext cx="410369" cy="4103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9917EE-278B-4969-9893-5A9728BCB1BE}"/>
              </a:ext>
            </a:extLst>
          </p:cNvPr>
          <p:cNvSpPr txBox="1"/>
          <p:nvPr/>
        </p:nvSpPr>
        <p:spPr>
          <a:xfrm>
            <a:off x="4947458" y="5581142"/>
            <a:ext cx="1816203" cy="4104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26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etropolis" panose="00000500000000000000" pitchFamily="50" charset="0"/>
              </a:rPr>
              <a:t>sam-cogan</a:t>
            </a:r>
            <a:endParaRPr lang="en-GB" sz="2667" dirty="0">
              <a:solidFill>
                <a:schemeClr val="tx1">
                  <a:lumMod val="65000"/>
                  <a:lumOff val="35000"/>
                </a:schemeClr>
              </a:solidFill>
              <a:latin typeface="Metropolis" panose="00000500000000000000" pitchFamily="50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0709674-EC71-4F67-85DC-FB88FA4846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4369" y="5585111"/>
            <a:ext cx="406400" cy="406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7ED0C9-C5A8-4D71-9EF4-B76CB5CDA0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40" y="4857560"/>
            <a:ext cx="2289053" cy="92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4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1319</Words>
  <Application>Microsoft Office PowerPoint</Application>
  <PresentationFormat>Widescreen</PresentationFormat>
  <Paragraphs>199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Metropolis</vt:lpstr>
      <vt:lpstr>Segoe UI</vt:lpstr>
      <vt:lpstr>Wingdings</vt:lpstr>
      <vt:lpstr>Office Theme</vt:lpstr>
      <vt:lpstr>Project Bicep: ARM Templates Evolved</vt:lpstr>
      <vt:lpstr>About Me</vt:lpstr>
      <vt:lpstr>ARM Templates</vt:lpstr>
      <vt:lpstr>Bicep</vt:lpstr>
      <vt:lpstr>Bicep</vt:lpstr>
      <vt:lpstr>PowerPoint Presentation</vt:lpstr>
      <vt:lpstr>Benefits of Bicep</vt:lpstr>
      <vt:lpstr>Demo</vt:lpstr>
      <vt:lpstr>Custom Modules</vt:lpstr>
      <vt:lpstr>Demo</vt:lpstr>
      <vt:lpstr>Migrating to Bicep</vt:lpstr>
      <vt:lpstr>Why Use Bicep?</vt:lpstr>
      <vt:lpstr>IaC Tooling Comparison</vt:lpstr>
      <vt:lpstr>Useful Resources</vt:lpstr>
      <vt:lpstr>About 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Bicep: ARM Templates Evolved</dc:title>
  <dc:creator>Sam Cogan</dc:creator>
  <cp:lastModifiedBy>Sam Cogan</cp:lastModifiedBy>
  <cp:revision>11</cp:revision>
  <dcterms:created xsi:type="dcterms:W3CDTF">2020-11-29T11:18:11Z</dcterms:created>
  <dcterms:modified xsi:type="dcterms:W3CDTF">2020-11-29T12:57:14Z</dcterms:modified>
</cp:coreProperties>
</file>